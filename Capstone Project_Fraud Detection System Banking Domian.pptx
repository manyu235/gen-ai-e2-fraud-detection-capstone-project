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7" r:id="rId2"/>
  </p:sldMasterIdLst>
  <p:sldIdLst>
    <p:sldId id="458" r:id="rId3"/>
    <p:sldId id="463" r:id="rId4"/>
    <p:sldId id="2142533041" r:id="rId5"/>
    <p:sldId id="2142533044" r:id="rId6"/>
    <p:sldId id="2142533039" r:id="rId7"/>
    <p:sldId id="2142533040" r:id="rId8"/>
    <p:sldId id="2142533042" r:id="rId9"/>
    <p:sldId id="2142533043" r:id="rId10"/>
    <p:sldId id="2142533045" r:id="rId11"/>
    <p:sldId id="214253303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47CC5D-C155-4CBF-B801-A8441F43F65B}" v="46" dt="2025-12-19T00:35:14.9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73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imanyu Kumar" userId="41c3c111-59dd-4b82-afd5-1ea48dee951d" providerId="ADAL" clId="{C2B8F81B-020F-4BB3-BD02-8E85DFA5EBB6}"/>
    <pc:docChg chg="undo custSel addSld delSld modSld sldOrd">
      <pc:chgData name="Abhimanyu Kumar" userId="41c3c111-59dd-4b82-afd5-1ea48dee951d" providerId="ADAL" clId="{C2B8F81B-020F-4BB3-BD02-8E85DFA5EBB6}" dt="2025-12-19T00:45:23.038" v="833" actId="20577"/>
      <pc:docMkLst>
        <pc:docMk/>
      </pc:docMkLst>
      <pc:sldChg chg="modSp mod">
        <pc:chgData name="Abhimanyu Kumar" userId="41c3c111-59dd-4b82-afd5-1ea48dee951d" providerId="ADAL" clId="{C2B8F81B-020F-4BB3-BD02-8E85DFA5EBB6}" dt="2025-12-18T23:56:44.831" v="515" actId="20577"/>
        <pc:sldMkLst>
          <pc:docMk/>
          <pc:sldMk cId="1521446667" sldId="458"/>
        </pc:sldMkLst>
        <pc:spChg chg="mod">
          <ac:chgData name="Abhimanyu Kumar" userId="41c3c111-59dd-4b82-afd5-1ea48dee951d" providerId="ADAL" clId="{C2B8F81B-020F-4BB3-BD02-8E85DFA5EBB6}" dt="2025-12-18T23:54:51.623" v="433" actId="113"/>
          <ac:spMkLst>
            <pc:docMk/>
            <pc:sldMk cId="1521446667" sldId="458"/>
            <ac:spMk id="2" creationId="{7A192F1C-25A6-F949-E1E2-1FCD85FFBB70}"/>
          </ac:spMkLst>
        </pc:spChg>
        <pc:spChg chg="mod">
          <ac:chgData name="Abhimanyu Kumar" userId="41c3c111-59dd-4b82-afd5-1ea48dee951d" providerId="ADAL" clId="{C2B8F81B-020F-4BB3-BD02-8E85DFA5EBB6}" dt="2025-12-18T23:56:44.831" v="515" actId="20577"/>
          <ac:spMkLst>
            <pc:docMk/>
            <pc:sldMk cId="1521446667" sldId="458"/>
            <ac:spMk id="9" creationId="{0FB4B027-18CC-5ADD-235C-28EF7D6444AF}"/>
          </ac:spMkLst>
        </pc:spChg>
      </pc:sldChg>
      <pc:sldChg chg="del">
        <pc:chgData name="Abhimanyu Kumar" userId="41c3c111-59dd-4b82-afd5-1ea48dee951d" providerId="ADAL" clId="{C2B8F81B-020F-4BB3-BD02-8E85DFA5EBB6}" dt="2025-12-18T23:30:54.463" v="44" actId="2696"/>
        <pc:sldMkLst>
          <pc:docMk/>
          <pc:sldMk cId="674439033" sldId="462"/>
        </pc:sldMkLst>
      </pc:sldChg>
      <pc:sldChg chg="addSp delSp modSp mod ord modClrScheme chgLayout">
        <pc:chgData name="Abhimanyu Kumar" userId="41c3c111-59dd-4b82-afd5-1ea48dee951d" providerId="ADAL" clId="{C2B8F81B-020F-4BB3-BD02-8E85DFA5EBB6}" dt="2025-12-19T00:23:53.965" v="825"/>
        <pc:sldMkLst>
          <pc:docMk/>
          <pc:sldMk cId="2356228476" sldId="463"/>
        </pc:sldMkLst>
        <pc:spChg chg="mod ord">
          <ac:chgData name="Abhimanyu Kumar" userId="41c3c111-59dd-4b82-afd5-1ea48dee951d" providerId="ADAL" clId="{C2B8F81B-020F-4BB3-BD02-8E85DFA5EBB6}" dt="2025-12-18T23:54:46.622" v="431" actId="113"/>
          <ac:spMkLst>
            <pc:docMk/>
            <pc:sldMk cId="2356228476" sldId="463"/>
            <ac:spMk id="2" creationId="{00000000-0000-0000-0000-000000000000}"/>
          </ac:spMkLst>
        </pc:spChg>
        <pc:spChg chg="mod ord">
          <ac:chgData name="Abhimanyu Kumar" userId="41c3c111-59dd-4b82-afd5-1ea48dee951d" providerId="ADAL" clId="{C2B8F81B-020F-4BB3-BD02-8E85DFA5EBB6}" dt="2025-12-18T23:42:13.442" v="231" actId="27636"/>
          <ac:spMkLst>
            <pc:docMk/>
            <pc:sldMk cId="2356228476" sldId="463"/>
            <ac:spMk id="3" creationId="{00000000-0000-0000-0000-000000000000}"/>
          </ac:spMkLst>
        </pc:spChg>
        <pc:spChg chg="add mod ord">
          <ac:chgData name="Abhimanyu Kumar" userId="41c3c111-59dd-4b82-afd5-1ea48dee951d" providerId="ADAL" clId="{C2B8F81B-020F-4BB3-BD02-8E85DFA5EBB6}" dt="2025-12-18T23:45:33.178" v="289" actId="948"/>
          <ac:spMkLst>
            <pc:docMk/>
            <pc:sldMk cId="2356228476" sldId="463"/>
            <ac:spMk id="4" creationId="{0EC99E10-48FD-3A88-D3D7-F26C5B73E63D}"/>
          </ac:spMkLst>
        </pc:spChg>
        <pc:spChg chg="add del">
          <ac:chgData name="Abhimanyu Kumar" userId="41c3c111-59dd-4b82-afd5-1ea48dee951d" providerId="ADAL" clId="{C2B8F81B-020F-4BB3-BD02-8E85DFA5EBB6}" dt="2025-12-18T23:38:50.702" v="167" actId="22"/>
          <ac:spMkLst>
            <pc:docMk/>
            <pc:sldMk cId="2356228476" sldId="463"/>
            <ac:spMk id="6" creationId="{C2503C89-4914-C54E-5F37-F2C38200FA67}"/>
          </ac:spMkLst>
        </pc:spChg>
        <pc:spChg chg="add mod">
          <ac:chgData name="Abhimanyu Kumar" userId="41c3c111-59dd-4b82-afd5-1ea48dee951d" providerId="ADAL" clId="{C2B8F81B-020F-4BB3-BD02-8E85DFA5EBB6}" dt="2025-12-18T23:43:27.027" v="266" actId="14100"/>
          <ac:spMkLst>
            <pc:docMk/>
            <pc:sldMk cId="2356228476" sldId="463"/>
            <ac:spMk id="7" creationId="{280B93A7-073E-D7BA-A68A-7B799912AC6F}"/>
          </ac:spMkLst>
        </pc:spChg>
        <pc:spChg chg="add mod">
          <ac:chgData name="Abhimanyu Kumar" userId="41c3c111-59dd-4b82-afd5-1ea48dee951d" providerId="ADAL" clId="{C2B8F81B-020F-4BB3-BD02-8E85DFA5EBB6}" dt="2025-12-18T23:48:25.979" v="362" actId="14100"/>
          <ac:spMkLst>
            <pc:docMk/>
            <pc:sldMk cId="2356228476" sldId="463"/>
            <ac:spMk id="8" creationId="{FFA70032-C736-E4ED-5E1A-60B10C638C18}"/>
          </ac:spMkLst>
        </pc:spChg>
        <pc:spChg chg="add mod">
          <ac:chgData name="Abhimanyu Kumar" userId="41c3c111-59dd-4b82-afd5-1ea48dee951d" providerId="ADAL" clId="{C2B8F81B-020F-4BB3-BD02-8E85DFA5EBB6}" dt="2025-12-18T23:48:22.900" v="361" actId="14100"/>
          <ac:spMkLst>
            <pc:docMk/>
            <pc:sldMk cId="2356228476" sldId="463"/>
            <ac:spMk id="9" creationId="{B6A3C06A-4046-E3B2-4E26-8E26B9AD4BAA}"/>
          </ac:spMkLst>
        </pc:spChg>
        <pc:spChg chg="add mod">
          <ac:chgData name="Abhimanyu Kumar" userId="41c3c111-59dd-4b82-afd5-1ea48dee951d" providerId="ADAL" clId="{C2B8F81B-020F-4BB3-BD02-8E85DFA5EBB6}" dt="2025-12-18T23:48:20.609" v="360" actId="14100"/>
          <ac:spMkLst>
            <pc:docMk/>
            <pc:sldMk cId="2356228476" sldId="463"/>
            <ac:spMk id="10" creationId="{9083661E-695D-AB8B-A757-04086251BDE1}"/>
          </ac:spMkLst>
        </pc:spChg>
      </pc:sldChg>
      <pc:sldChg chg="del">
        <pc:chgData name="Abhimanyu Kumar" userId="41c3c111-59dd-4b82-afd5-1ea48dee951d" providerId="ADAL" clId="{C2B8F81B-020F-4BB3-BD02-8E85DFA5EBB6}" dt="2025-12-18T23:29:18.563" v="0" actId="47"/>
        <pc:sldMkLst>
          <pc:docMk/>
          <pc:sldMk cId="1596680119" sldId="464"/>
        </pc:sldMkLst>
      </pc:sldChg>
      <pc:sldChg chg="del">
        <pc:chgData name="Abhimanyu Kumar" userId="41c3c111-59dd-4b82-afd5-1ea48dee951d" providerId="ADAL" clId="{C2B8F81B-020F-4BB3-BD02-8E85DFA5EBB6}" dt="2025-12-18T23:29:18.563" v="0" actId="47"/>
        <pc:sldMkLst>
          <pc:docMk/>
          <pc:sldMk cId="868424475" sldId="465"/>
        </pc:sldMkLst>
      </pc:sldChg>
      <pc:sldChg chg="del">
        <pc:chgData name="Abhimanyu Kumar" userId="41c3c111-59dd-4b82-afd5-1ea48dee951d" providerId="ADAL" clId="{C2B8F81B-020F-4BB3-BD02-8E85DFA5EBB6}" dt="2025-12-18T23:29:18.563" v="0" actId="47"/>
        <pc:sldMkLst>
          <pc:docMk/>
          <pc:sldMk cId="93821215" sldId="466"/>
        </pc:sldMkLst>
      </pc:sldChg>
      <pc:sldChg chg="del">
        <pc:chgData name="Abhimanyu Kumar" userId="41c3c111-59dd-4b82-afd5-1ea48dee951d" providerId="ADAL" clId="{C2B8F81B-020F-4BB3-BD02-8E85DFA5EBB6}" dt="2025-12-18T23:29:18.563" v="0" actId="47"/>
        <pc:sldMkLst>
          <pc:docMk/>
          <pc:sldMk cId="511933526" sldId="467"/>
        </pc:sldMkLst>
      </pc:sldChg>
      <pc:sldChg chg="del">
        <pc:chgData name="Abhimanyu Kumar" userId="41c3c111-59dd-4b82-afd5-1ea48dee951d" providerId="ADAL" clId="{C2B8F81B-020F-4BB3-BD02-8E85DFA5EBB6}" dt="2025-12-18T23:29:18.563" v="0" actId="47"/>
        <pc:sldMkLst>
          <pc:docMk/>
          <pc:sldMk cId="3011653283" sldId="468"/>
        </pc:sldMkLst>
      </pc:sldChg>
      <pc:sldChg chg="addSp delSp modSp add mod">
        <pc:chgData name="Abhimanyu Kumar" userId="41c3c111-59dd-4b82-afd5-1ea48dee951d" providerId="ADAL" clId="{C2B8F81B-020F-4BB3-BD02-8E85DFA5EBB6}" dt="2025-12-18T23:54:59.718" v="435" actId="113"/>
        <pc:sldMkLst>
          <pc:docMk/>
          <pc:sldMk cId="2844262707" sldId="2142533039"/>
        </pc:sldMkLst>
        <pc:spChg chg="mod">
          <ac:chgData name="Abhimanyu Kumar" userId="41c3c111-59dd-4b82-afd5-1ea48dee951d" providerId="ADAL" clId="{C2B8F81B-020F-4BB3-BD02-8E85DFA5EBB6}" dt="2025-12-18T23:54:59.718" v="435" actId="113"/>
          <ac:spMkLst>
            <pc:docMk/>
            <pc:sldMk cId="2844262707" sldId="2142533039"/>
            <ac:spMk id="2" creationId="{86927836-F981-49BD-3DF2-1A191A7DD62A}"/>
          </ac:spMkLst>
        </pc:spChg>
        <pc:spChg chg="mod">
          <ac:chgData name="Abhimanyu Kumar" userId="41c3c111-59dd-4b82-afd5-1ea48dee951d" providerId="ADAL" clId="{C2B8F81B-020F-4BB3-BD02-8E85DFA5EBB6}" dt="2025-12-18T23:50:28.917" v="389" actId="14100"/>
          <ac:spMkLst>
            <pc:docMk/>
            <pc:sldMk cId="2844262707" sldId="2142533039"/>
            <ac:spMk id="3" creationId="{F54343F8-C1A9-E2E3-6AA6-3D54359ADC5F}"/>
          </ac:spMkLst>
        </pc:spChg>
        <pc:spChg chg="add del mod">
          <ac:chgData name="Abhimanyu Kumar" userId="41c3c111-59dd-4b82-afd5-1ea48dee951d" providerId="ADAL" clId="{C2B8F81B-020F-4BB3-BD02-8E85DFA5EBB6}" dt="2025-12-18T23:50:01.093" v="378"/>
          <ac:spMkLst>
            <pc:docMk/>
            <pc:sldMk cId="2844262707" sldId="2142533039"/>
            <ac:spMk id="5" creationId="{31C11C1C-F28E-C45F-FA64-40F94A9BFB33}"/>
          </ac:spMkLst>
        </pc:spChg>
        <pc:spChg chg="add mod">
          <ac:chgData name="Abhimanyu Kumar" userId="41c3c111-59dd-4b82-afd5-1ea48dee951d" providerId="ADAL" clId="{C2B8F81B-020F-4BB3-BD02-8E85DFA5EBB6}" dt="2025-12-18T23:50:26.173" v="388" actId="14100"/>
          <ac:spMkLst>
            <pc:docMk/>
            <pc:sldMk cId="2844262707" sldId="2142533039"/>
            <ac:spMk id="6" creationId="{978B7646-B84F-1086-A546-74C07E231CB6}"/>
          </ac:spMkLst>
        </pc:spChg>
      </pc:sldChg>
      <pc:sldChg chg="modSp add mod">
        <pc:chgData name="Abhimanyu Kumar" userId="41c3c111-59dd-4b82-afd5-1ea48dee951d" providerId="ADAL" clId="{C2B8F81B-020F-4BB3-BD02-8E85DFA5EBB6}" dt="2025-12-18T23:52:35.213" v="405" actId="14100"/>
        <pc:sldMkLst>
          <pc:docMk/>
          <pc:sldMk cId="3942258751" sldId="2142533040"/>
        </pc:sldMkLst>
        <pc:spChg chg="mod">
          <ac:chgData name="Abhimanyu Kumar" userId="41c3c111-59dd-4b82-afd5-1ea48dee951d" providerId="ADAL" clId="{C2B8F81B-020F-4BB3-BD02-8E85DFA5EBB6}" dt="2025-12-18T23:52:00.800" v="398"/>
          <ac:spMkLst>
            <pc:docMk/>
            <pc:sldMk cId="3942258751" sldId="2142533040"/>
            <ac:spMk id="2" creationId="{78266343-2E1D-27ED-546B-C2181C80BF6A}"/>
          </ac:spMkLst>
        </pc:spChg>
        <pc:spChg chg="mod">
          <ac:chgData name="Abhimanyu Kumar" userId="41c3c111-59dd-4b82-afd5-1ea48dee951d" providerId="ADAL" clId="{C2B8F81B-020F-4BB3-BD02-8E85DFA5EBB6}" dt="2025-12-18T23:52:30.587" v="403" actId="14100"/>
          <ac:spMkLst>
            <pc:docMk/>
            <pc:sldMk cId="3942258751" sldId="2142533040"/>
            <ac:spMk id="3" creationId="{1563F1A1-794C-B7FF-8D64-C9F5559C5D78}"/>
          </ac:spMkLst>
        </pc:spChg>
        <pc:spChg chg="mod">
          <ac:chgData name="Abhimanyu Kumar" userId="41c3c111-59dd-4b82-afd5-1ea48dee951d" providerId="ADAL" clId="{C2B8F81B-020F-4BB3-BD02-8E85DFA5EBB6}" dt="2025-12-18T23:52:35.213" v="405" actId="14100"/>
          <ac:spMkLst>
            <pc:docMk/>
            <pc:sldMk cId="3942258751" sldId="2142533040"/>
            <ac:spMk id="6" creationId="{E959DB74-F353-1295-60E5-B02B984AE984}"/>
          </ac:spMkLst>
        </pc:spChg>
      </pc:sldChg>
      <pc:sldChg chg="addSp delSp modSp add mod ord">
        <pc:chgData name="Abhimanyu Kumar" userId="41c3c111-59dd-4b82-afd5-1ea48dee951d" providerId="ADAL" clId="{C2B8F81B-020F-4BB3-BD02-8E85DFA5EBB6}" dt="2025-12-19T00:23:49.348" v="823"/>
        <pc:sldMkLst>
          <pc:docMk/>
          <pc:sldMk cId="1213731951" sldId="2142533041"/>
        </pc:sldMkLst>
        <pc:spChg chg="mod">
          <ac:chgData name="Abhimanyu Kumar" userId="41c3c111-59dd-4b82-afd5-1ea48dee951d" providerId="ADAL" clId="{C2B8F81B-020F-4BB3-BD02-8E85DFA5EBB6}" dt="2025-12-19T00:07:41.049" v="551" actId="20577"/>
          <ac:spMkLst>
            <pc:docMk/>
            <pc:sldMk cId="1213731951" sldId="2142533041"/>
            <ac:spMk id="2" creationId="{21E810C9-54D9-F3A1-EE83-BA5EEBADFAFC}"/>
          </ac:spMkLst>
        </pc:spChg>
        <pc:spChg chg="del">
          <ac:chgData name="Abhimanyu Kumar" userId="41c3c111-59dd-4b82-afd5-1ea48dee951d" providerId="ADAL" clId="{C2B8F81B-020F-4BB3-BD02-8E85DFA5EBB6}" dt="2025-12-18T23:57:03.549" v="530" actId="478"/>
          <ac:spMkLst>
            <pc:docMk/>
            <pc:sldMk cId="1213731951" sldId="2142533041"/>
            <ac:spMk id="3" creationId="{DF3F449C-24D5-AB63-5F06-95C37EE256B4}"/>
          </ac:spMkLst>
        </pc:spChg>
        <pc:spChg chg="add del mod">
          <ac:chgData name="Abhimanyu Kumar" userId="41c3c111-59dd-4b82-afd5-1ea48dee951d" providerId="ADAL" clId="{C2B8F81B-020F-4BB3-BD02-8E85DFA5EBB6}" dt="2025-12-18T23:57:05.635" v="531" actId="478"/>
          <ac:spMkLst>
            <pc:docMk/>
            <pc:sldMk cId="1213731951" sldId="2142533041"/>
            <ac:spMk id="5" creationId="{FA038E89-2E83-6A6F-0163-4DE9F58BAC29}"/>
          </ac:spMkLst>
        </pc:spChg>
        <pc:spChg chg="del">
          <ac:chgData name="Abhimanyu Kumar" userId="41c3c111-59dd-4b82-afd5-1ea48dee951d" providerId="ADAL" clId="{C2B8F81B-020F-4BB3-BD02-8E85DFA5EBB6}" dt="2025-12-18T23:57:02.396" v="529" actId="478"/>
          <ac:spMkLst>
            <pc:docMk/>
            <pc:sldMk cId="1213731951" sldId="2142533041"/>
            <ac:spMk id="6" creationId="{F0AEFCDD-7D28-B776-A1BE-E9AE56D75EF7}"/>
          </ac:spMkLst>
        </pc:spChg>
        <pc:picChg chg="add del mod">
          <ac:chgData name="Abhimanyu Kumar" userId="41c3c111-59dd-4b82-afd5-1ea48dee951d" providerId="ADAL" clId="{C2B8F81B-020F-4BB3-BD02-8E85DFA5EBB6}" dt="2025-12-19T00:07:31.616" v="539" actId="478"/>
          <ac:picMkLst>
            <pc:docMk/>
            <pc:sldMk cId="1213731951" sldId="2142533041"/>
            <ac:picMk id="8" creationId="{7FD4CAF3-41F5-B1F8-26E0-AC965694539D}"/>
          </ac:picMkLst>
        </pc:picChg>
        <pc:picChg chg="add mod">
          <ac:chgData name="Abhimanyu Kumar" userId="41c3c111-59dd-4b82-afd5-1ea48dee951d" providerId="ADAL" clId="{C2B8F81B-020F-4BB3-BD02-8E85DFA5EBB6}" dt="2025-12-19T00:07:44.085" v="552" actId="14100"/>
          <ac:picMkLst>
            <pc:docMk/>
            <pc:sldMk cId="1213731951" sldId="2142533041"/>
            <ac:picMk id="10" creationId="{D5395BA4-FF81-F18F-827C-97903F90DF66}"/>
          </ac:picMkLst>
        </pc:picChg>
      </pc:sldChg>
      <pc:sldChg chg="addSp delSp modSp add mod">
        <pc:chgData name="Abhimanyu Kumar" userId="41c3c111-59dd-4b82-afd5-1ea48dee951d" providerId="ADAL" clId="{C2B8F81B-020F-4BB3-BD02-8E85DFA5EBB6}" dt="2025-12-19T00:45:23.038" v="833" actId="20577"/>
        <pc:sldMkLst>
          <pc:docMk/>
          <pc:sldMk cId="1402172686" sldId="2142533042"/>
        </pc:sldMkLst>
        <pc:spChg chg="mod">
          <ac:chgData name="Abhimanyu Kumar" userId="41c3c111-59dd-4b82-afd5-1ea48dee951d" providerId="ADAL" clId="{C2B8F81B-020F-4BB3-BD02-8E85DFA5EBB6}" dt="2025-12-19T00:18:04.667" v="776" actId="20577"/>
          <ac:spMkLst>
            <pc:docMk/>
            <pc:sldMk cId="1402172686" sldId="2142533042"/>
            <ac:spMk id="2" creationId="{FC1B0ECD-F656-C2EC-6FBE-F0B9BD0FBBE5}"/>
          </ac:spMkLst>
        </pc:spChg>
        <pc:spChg chg="add mod">
          <ac:chgData name="Abhimanyu Kumar" userId="41c3c111-59dd-4b82-afd5-1ea48dee951d" providerId="ADAL" clId="{C2B8F81B-020F-4BB3-BD02-8E85DFA5EBB6}" dt="2025-12-19T00:45:23.038" v="833" actId="20577"/>
          <ac:spMkLst>
            <pc:docMk/>
            <pc:sldMk cId="1402172686" sldId="2142533042"/>
            <ac:spMk id="4" creationId="{0B35BE85-0F9E-97BD-3796-D1C7880BEFF4}"/>
          </ac:spMkLst>
        </pc:spChg>
        <pc:spChg chg="add del mod">
          <ac:chgData name="Abhimanyu Kumar" userId="41c3c111-59dd-4b82-afd5-1ea48dee951d" providerId="ADAL" clId="{C2B8F81B-020F-4BB3-BD02-8E85DFA5EBB6}" dt="2025-12-19T00:15:42.678" v="749"/>
          <ac:spMkLst>
            <pc:docMk/>
            <pc:sldMk cId="1402172686" sldId="2142533042"/>
            <ac:spMk id="5" creationId="{6C06FF78-BB9B-5A9F-08CD-A469D5B119BB}"/>
          </ac:spMkLst>
        </pc:spChg>
        <pc:picChg chg="del">
          <ac:chgData name="Abhimanyu Kumar" userId="41c3c111-59dd-4b82-afd5-1ea48dee951d" providerId="ADAL" clId="{C2B8F81B-020F-4BB3-BD02-8E85DFA5EBB6}" dt="2025-12-19T00:08:07.844" v="578" actId="478"/>
          <ac:picMkLst>
            <pc:docMk/>
            <pc:sldMk cId="1402172686" sldId="2142533042"/>
            <ac:picMk id="10" creationId="{ED3DFBBD-F0E1-C5FD-C72F-41ED127BA493}"/>
          </ac:picMkLst>
        </pc:picChg>
      </pc:sldChg>
      <pc:sldChg chg="addSp delSp modSp add mod">
        <pc:chgData name="Abhimanyu Kumar" userId="41c3c111-59dd-4b82-afd5-1ea48dee951d" providerId="ADAL" clId="{C2B8F81B-020F-4BB3-BD02-8E85DFA5EBB6}" dt="2025-12-19T00:35:22.942" v="831" actId="1076"/>
        <pc:sldMkLst>
          <pc:docMk/>
          <pc:sldMk cId="1159892177" sldId="2142533043"/>
        </pc:sldMkLst>
        <pc:spChg chg="mod">
          <ac:chgData name="Abhimanyu Kumar" userId="41c3c111-59dd-4b82-afd5-1ea48dee951d" providerId="ADAL" clId="{C2B8F81B-020F-4BB3-BD02-8E85DFA5EBB6}" dt="2025-12-19T00:20:42.405" v="817" actId="20577"/>
          <ac:spMkLst>
            <pc:docMk/>
            <pc:sldMk cId="1159892177" sldId="2142533043"/>
            <ac:spMk id="2" creationId="{442BC020-32F2-9740-C90F-93B78CF6C479}"/>
          </ac:spMkLst>
        </pc:spChg>
        <pc:spChg chg="del mod">
          <ac:chgData name="Abhimanyu Kumar" userId="41c3c111-59dd-4b82-afd5-1ea48dee951d" providerId="ADAL" clId="{C2B8F81B-020F-4BB3-BD02-8E85DFA5EBB6}" dt="2025-12-19T00:20:46.604" v="821"/>
          <ac:spMkLst>
            <pc:docMk/>
            <pc:sldMk cId="1159892177" sldId="2142533043"/>
            <ac:spMk id="4" creationId="{64EF9322-E8DF-468F-BA90-30900484B093}"/>
          </ac:spMkLst>
        </pc:spChg>
        <pc:graphicFrameChg chg="add mod">
          <ac:chgData name="Abhimanyu Kumar" userId="41c3c111-59dd-4b82-afd5-1ea48dee951d" providerId="ADAL" clId="{C2B8F81B-020F-4BB3-BD02-8E85DFA5EBB6}" dt="2025-12-19T00:34:52.118" v="827" actId="1076"/>
          <ac:graphicFrameMkLst>
            <pc:docMk/>
            <pc:sldMk cId="1159892177" sldId="2142533043"/>
            <ac:graphicFrameMk id="3" creationId="{86DE3576-BB34-82B7-5FEA-D74D6B727FDB}"/>
          </ac:graphicFrameMkLst>
        </pc:graphicFrameChg>
        <pc:graphicFrameChg chg="add mod">
          <ac:chgData name="Abhimanyu Kumar" userId="41c3c111-59dd-4b82-afd5-1ea48dee951d" providerId="ADAL" clId="{C2B8F81B-020F-4BB3-BD02-8E85DFA5EBB6}" dt="2025-12-19T00:35:22.942" v="831" actId="1076"/>
          <ac:graphicFrameMkLst>
            <pc:docMk/>
            <pc:sldMk cId="1159892177" sldId="2142533043"/>
            <ac:graphicFrameMk id="5" creationId="{A9B4BFC6-E4ED-45CB-BE91-00A78EBBD205}"/>
          </ac:graphicFrameMkLst>
        </pc:graphicFrameChg>
        <pc:graphicFrameChg chg="add mod">
          <ac:chgData name="Abhimanyu Kumar" userId="41c3c111-59dd-4b82-afd5-1ea48dee951d" providerId="ADAL" clId="{C2B8F81B-020F-4BB3-BD02-8E85DFA5EBB6}" dt="2025-12-19T00:35:19.769" v="830" actId="1076"/>
          <ac:graphicFrameMkLst>
            <pc:docMk/>
            <pc:sldMk cId="1159892177" sldId="2142533043"/>
            <ac:graphicFrameMk id="6" creationId="{9DD8704F-AFA6-3672-4CD0-A1FB5454551B}"/>
          </ac:graphicFrameMkLst>
        </pc:graphicFrameChg>
        <pc:graphicFrameChg chg="add mod">
          <ac:chgData name="Abhimanyu Kumar" userId="41c3c111-59dd-4b82-afd5-1ea48dee951d" providerId="ADAL" clId="{C2B8F81B-020F-4BB3-BD02-8E85DFA5EBB6}" dt="2025-12-19T00:35:17.344" v="829" actId="1076"/>
          <ac:graphicFrameMkLst>
            <pc:docMk/>
            <pc:sldMk cId="1159892177" sldId="2142533043"/>
            <ac:graphicFrameMk id="7" creationId="{DB69DCE9-8D51-BB61-2F80-A9767F6C03A6}"/>
          </ac:graphicFrameMkLst>
        </pc:graphicFrameChg>
      </pc:sldChg>
      <pc:sldChg chg="del">
        <pc:chgData name="Abhimanyu Kumar" userId="41c3c111-59dd-4b82-afd5-1ea48dee951d" providerId="ADAL" clId="{C2B8F81B-020F-4BB3-BD02-8E85DFA5EBB6}" dt="2025-12-18T23:29:18.563" v="0" actId="47"/>
        <pc:sldMkLst>
          <pc:docMk/>
          <pc:sldMk cId="2746919231" sldId="214730831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43853-4DB9-5189-15B3-8A47498BA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57229-AB7A-67D3-EA06-0D6FD5572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D8FC10-2C0A-9612-D218-37654C7E1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TCS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77400-51B4-1126-A5F4-07654EC4C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6128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B4F54-6F0A-19B4-3238-7BC32D8F4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27FC30-A017-62AC-416F-FE4B67D8E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TCS 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5F89A8-A7DB-7E7B-4952-3EFF5B554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3099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FF3A67-9F87-D948-0E1B-C965F3A44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TCS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930D96-E5F4-B8B9-8376-0B62449B0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7674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213B8F0-6A13-4C09-87E6-7C343222B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42B828-E838-46A6-BE5A-0BCB34CA9A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2921" y="2849127"/>
            <a:ext cx="5390651" cy="312714"/>
          </a:xfrm>
        </p:spPr>
        <p:txBody>
          <a:bodyPr vert="horz" wrap="square" lIns="0" tIns="17145" rIns="0" bIns="0" rtlCol="0">
            <a:spAutoFit/>
          </a:bodyPr>
          <a:lstStyle>
            <a:lvl1pPr>
              <a:defRPr lang="en-US" dirty="0" smtClean="0"/>
            </a:lvl1pPr>
            <a:lvl2pPr marL="609555" indent="0">
              <a:buNone/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0" lvl="0" indent="0">
              <a:buClr>
                <a:srgbClr val="808285"/>
              </a:buClr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4EFB8F-EA4A-4341-A4CD-09652A6EE5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4984" y="5819829"/>
            <a:ext cx="1775480" cy="184602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333" smtClean="0">
                <a:solidFill>
                  <a:srgbClr val="F4F3F9"/>
                </a:solidFill>
              </a:defRPr>
            </a:lvl1pPr>
            <a:lvl2pPr>
              <a:defRPr lang="en-US" sz="16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6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6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228584" lvl="0" indent="-228584" defTabSz="1219050">
              <a:buClr>
                <a:srgbClr val="808285"/>
              </a:buClr>
            </a:pPr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625480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213B8F0-6A13-4C09-87E6-7C343222B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42B828-E838-46A6-BE5A-0BCB34CA9A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2921" y="2849125"/>
            <a:ext cx="5390651" cy="312714"/>
          </a:xfrm>
        </p:spPr>
        <p:txBody>
          <a:bodyPr vert="horz" wrap="square" lIns="0" tIns="17145" rIns="0" bIns="0" rtlCol="0">
            <a:spAutoFit/>
          </a:bodyPr>
          <a:lstStyle>
            <a:lvl1pPr>
              <a:defRPr lang="en-US" dirty="0" smtClean="0"/>
            </a:lvl1pPr>
            <a:lvl2pPr marL="609555" indent="0">
              <a:buNone/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0" lvl="0" indent="0">
              <a:buClr>
                <a:srgbClr val="808285"/>
              </a:buClr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4EFB8F-EA4A-4341-A4CD-09652A6EE5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4984" y="5819828"/>
            <a:ext cx="1775480" cy="184602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333" smtClean="0">
                <a:solidFill>
                  <a:srgbClr val="F4F3F9"/>
                </a:solidFill>
              </a:defRPr>
            </a:lvl1pPr>
            <a:lvl2pPr>
              <a:defRPr lang="en-US" sz="16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6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6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228584" lvl="0" indent="-228584" defTabSz="1219050">
              <a:buClr>
                <a:srgbClr val="808285"/>
              </a:buClr>
            </a:pPr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582450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213B8F0-6A13-4C09-87E6-7C343222B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42B828-E838-46A6-BE5A-0BCB34CA9A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2921" y="2849127"/>
            <a:ext cx="5390651" cy="312714"/>
          </a:xfrm>
        </p:spPr>
        <p:txBody>
          <a:bodyPr vert="horz" wrap="square" lIns="0" tIns="17145" rIns="0" bIns="0" rtlCol="0">
            <a:spAutoFit/>
          </a:bodyPr>
          <a:lstStyle>
            <a:lvl1pPr>
              <a:defRPr lang="en-US" dirty="0" smtClean="0"/>
            </a:lvl1pPr>
            <a:lvl2pPr marL="609555" indent="0">
              <a:buNone/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0" lvl="0" indent="0">
              <a:buClr>
                <a:srgbClr val="808285"/>
              </a:buClr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4EFB8F-EA4A-4341-A4CD-09652A6EE5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4984" y="5819828"/>
            <a:ext cx="1775480" cy="184602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333" smtClean="0">
                <a:solidFill>
                  <a:srgbClr val="F4F3F9"/>
                </a:solidFill>
              </a:defRPr>
            </a:lvl1pPr>
            <a:lvl2pPr>
              <a:defRPr lang="en-US" sz="16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6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6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228584" lvl="0" indent="-228584" defTabSz="1219050">
              <a:buClr>
                <a:srgbClr val="808285"/>
              </a:buClr>
            </a:pPr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445969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213B8F0-6A13-4C09-87E6-7C343222B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42B828-E838-46A6-BE5A-0BCB34CA9A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2921" y="2849125"/>
            <a:ext cx="5390651" cy="312714"/>
          </a:xfrm>
        </p:spPr>
        <p:txBody>
          <a:bodyPr vert="horz" wrap="square" lIns="0" tIns="17145" rIns="0" bIns="0" rtlCol="0">
            <a:spAutoFit/>
          </a:bodyPr>
          <a:lstStyle>
            <a:lvl1pPr>
              <a:defRPr lang="en-US" dirty="0" smtClean="0"/>
            </a:lvl1pPr>
            <a:lvl2pPr marL="609555" indent="0">
              <a:buNone/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0" lvl="0" indent="0">
              <a:buClr>
                <a:srgbClr val="808285"/>
              </a:buClr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4EFB8F-EA4A-4341-A4CD-09652A6EE5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4984" y="5819827"/>
            <a:ext cx="1775480" cy="184602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333" smtClean="0">
                <a:solidFill>
                  <a:srgbClr val="F4F3F9"/>
                </a:solidFill>
              </a:defRPr>
            </a:lvl1pPr>
            <a:lvl2pPr>
              <a:defRPr lang="en-US" sz="16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6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6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228584" lvl="0" indent="-228584" defTabSz="1219050">
              <a:buClr>
                <a:srgbClr val="808285"/>
              </a:buClr>
            </a:pPr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797549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110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18237" y="299466"/>
            <a:ext cx="9679305" cy="4985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492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25591313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0BE381-38C8-4224-A4AC-6073EF1F1A8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TCS Confidential</a:t>
            </a:r>
          </a:p>
        </p:txBody>
      </p:sp>
    </p:spTree>
    <p:extLst>
      <p:ext uri="{BB962C8B-B14F-4D97-AF65-F5344CB8AC3E}">
        <p14:creationId xmlns:p14="http://schemas.microsoft.com/office/powerpoint/2010/main" val="2821069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79300" h="6858000">
                <a:moveTo>
                  <a:pt x="0" y="0"/>
                </a:moveTo>
                <a:lnTo>
                  <a:pt x="12179299" y="0"/>
                </a:lnTo>
                <a:lnTo>
                  <a:pt x="12179299" y="6857999"/>
                </a:lnTo>
                <a:lnTo>
                  <a:pt x="0" y="6857999"/>
                </a:lnTo>
                <a:lnTo>
                  <a:pt x="0" y="0"/>
                </a:lnTo>
                <a:close/>
              </a:path>
            </a:pathLst>
          </a:custGeom>
          <a:solidFill>
            <a:srgbClr val="F9F6F4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76453" y="6473303"/>
            <a:ext cx="186914" cy="18671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1B3138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49890" y="1909077"/>
            <a:ext cx="4770009" cy="3670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1B3138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10968" y="1923080"/>
            <a:ext cx="4478240" cy="42411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1B313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618794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50" dirty="0"/>
              <a:t>©2023</a:t>
            </a:r>
            <a:r>
              <a:rPr spc="-5" dirty="0"/>
              <a:t> </a:t>
            </a:r>
            <a:r>
              <a:rPr spc="20" dirty="0"/>
              <a:t>Databricks</a:t>
            </a:r>
            <a:r>
              <a:rPr spc="-5" dirty="0"/>
              <a:t> </a:t>
            </a:r>
            <a:r>
              <a:rPr spc="-10" dirty="0"/>
              <a:t>Inc.</a:t>
            </a:r>
            <a:r>
              <a:rPr spc="-5" dirty="0"/>
              <a:t> </a:t>
            </a:r>
            <a:r>
              <a:rPr spc="315" dirty="0"/>
              <a:t>—</a:t>
            </a:r>
            <a:r>
              <a:rPr spc="-5" dirty="0"/>
              <a:t> All </a:t>
            </a:r>
            <a:r>
              <a:rPr spc="30" dirty="0"/>
              <a:t>rights</a:t>
            </a:r>
            <a:r>
              <a:rPr dirty="0"/>
              <a:t> </a:t>
            </a:r>
            <a:r>
              <a:rPr spc="20" dirty="0"/>
              <a:t>reserved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243451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067320D5-0CB9-41B6-9354-2210D73526C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5219" y="2554121"/>
            <a:ext cx="4230076" cy="263534"/>
          </a:xfrm>
        </p:spPr>
        <p:txBody>
          <a:bodyPr vert="horz" wrap="square" lIns="0" tIns="17145" rIns="0" bIns="0" rtlCol="0">
            <a:spAutoFit/>
          </a:bodyPr>
          <a:lstStyle>
            <a:lvl1pPr>
              <a:defRPr lang="en-US" dirty="0" smtClean="0"/>
            </a:lvl1pPr>
          </a:lstStyle>
          <a:p>
            <a:pPr marL="7701" lvl="0" algn="l" defTabSz="554445" rtl="0" eaLnBrk="1" latinLnBrk="0" hangingPunct="1">
              <a:lnSpc>
                <a:spcPct val="100000"/>
              </a:lnSpc>
              <a:spcBef>
                <a:spcPts val="81"/>
              </a:spcBef>
            </a:pPr>
            <a:r>
              <a:rPr lang="en-US" dirty="0"/>
              <a:t>Click to edit Master text styles</a:t>
            </a:r>
          </a:p>
        </p:txBody>
      </p:sp>
      <p:sp>
        <p:nvSpPr>
          <p:cNvPr id="15" name="Title 7">
            <a:extLst>
              <a:ext uri="{FF2B5EF4-FFF2-40B4-BE49-F238E27FC236}">
                <a16:creationId xmlns:a16="http://schemas.microsoft.com/office/drawing/2014/main" id="{FBE3EFBB-7988-499E-9325-CFE1D1FBB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260" y="1600201"/>
            <a:ext cx="4878841" cy="443070"/>
          </a:xfrm>
        </p:spPr>
        <p:txBody>
          <a:bodyPr vert="horz" wrap="square" lIns="0" tIns="12065" rIns="0" bIns="0" rtlCol="0">
            <a:sp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327712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Picture 3" descr="Icon&#10;&#10;Description automatically generated">
            <a:extLst>
              <a:ext uri="{FF2B5EF4-FFF2-40B4-BE49-F238E27FC236}">
                <a16:creationId xmlns:a16="http://schemas.microsoft.com/office/drawing/2014/main" id="{1D9BFBB1-4472-8B71-B106-2E615744532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1429" y="6533461"/>
            <a:ext cx="1110372" cy="166795"/>
          </a:xfrm>
          <a:prstGeom prst="rect">
            <a:avLst/>
          </a:prstGeom>
        </p:spPr>
      </p:pic>
      <p:pic>
        <p:nvPicPr>
          <p:cNvPr id="5" name="Picture 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2F59D1D-78F4-124B-F093-342C177F4F5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321" y="6367242"/>
            <a:ext cx="1313815" cy="332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7382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No Title o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9532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9249" y="228603"/>
            <a:ext cx="11151917" cy="747897"/>
          </a:xfrm>
        </p:spPr>
        <p:txBody>
          <a:bodyPr/>
          <a:lstStyle>
            <a:lvl1pPr>
              <a:defRPr>
                <a:solidFill>
                  <a:schemeClr val="tx1">
                    <a:alpha val="99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519249" y="1447799"/>
            <a:ext cx="11151917" cy="2043636"/>
          </a:xfrm>
          <a:prstGeom prst="rect">
            <a:avLst/>
          </a:prstGeom>
        </p:spPr>
        <p:txBody>
          <a:bodyPr/>
          <a:lstStyle>
            <a:lvl1pPr marL="0" indent="0">
              <a:buFont typeface="Wingdings" pitchFamily="2" charset="2"/>
              <a:buNone/>
              <a:defRPr sz="3999">
                <a:solidFill>
                  <a:schemeClr val="tx1">
                    <a:alpha val="99000"/>
                  </a:schemeClr>
                </a:solidFill>
              </a:defRPr>
            </a:lvl1pPr>
            <a:lvl2pPr marL="284077" marR="0" indent="0" algn="l" defTabSz="914089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itchFamily="2" charset="2"/>
              <a:buNone/>
              <a:tabLst/>
              <a:defRPr lang="en-US" sz="2399" kern="1200" spc="0" baseline="0" dirty="0" smtClean="0">
                <a:solidFill>
                  <a:schemeClr val="tx1">
                    <a:alpha val="99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17370" indent="0">
              <a:buFont typeface="Wingdings" pitchFamily="2" charset="2"/>
              <a:buNone/>
              <a:tabLst/>
              <a:defRPr>
                <a:solidFill>
                  <a:schemeClr val="tx1">
                    <a:alpha val="99000"/>
                  </a:schemeClr>
                </a:solidFill>
                <a:latin typeface="+mn-lt"/>
              </a:defRPr>
            </a:lvl3pPr>
            <a:lvl4pPr marL="741140" indent="0">
              <a:buFont typeface="Wingdings" pitchFamily="2" charset="2"/>
              <a:buNone/>
              <a:defRPr>
                <a:solidFill>
                  <a:schemeClr val="tx1">
                    <a:alpha val="99000"/>
                  </a:schemeClr>
                </a:solidFill>
                <a:latin typeface="+mn-lt"/>
              </a:defRPr>
            </a:lvl4pPr>
            <a:lvl5pPr marL="914126" indent="0">
              <a:buFont typeface="Wingdings" pitchFamily="2" charset="2"/>
              <a:buNone/>
              <a:tabLst/>
              <a:defRPr>
                <a:solidFill>
                  <a:schemeClr val="tx1">
                    <a:alpha val="99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46999103"/>
      </p:ext>
    </p:extLst>
  </p:cSld>
  <p:clrMapOvr>
    <a:masterClrMapping/>
  </p:clrMapOvr>
  <p:transition spd="slow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E8230-F0BC-969A-C62D-47003CCAD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A9A56D-B263-C3BE-C652-00150122CC3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57175" y="949325"/>
            <a:ext cx="11706225" cy="5472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105186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566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microsoft.com/office/2007/relationships/hdphoto" Target="../media/hdphoto2.wdp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microsoft.com/office/2007/relationships/hdphoto" Target="../media/hdphoto1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7.xml"/><Relationship Id="rId6" Type="http://schemas.microsoft.com/office/2007/relationships/hdphoto" Target="../media/hdphoto3.wdp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BFA0BF-8DAC-3B8C-4AE3-5CA36724C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6" y="143890"/>
            <a:ext cx="10514927" cy="73736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 defTabSz="1219050"/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EB974-2740-39F8-02D1-C88C824BE9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7323" y="1135772"/>
            <a:ext cx="10515600" cy="4349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D14DC-BF94-9E10-B09A-E89A386DEB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08699" y="6590128"/>
            <a:ext cx="2501900" cy="169560"/>
          </a:xfrm>
          <a:prstGeom prst="rect">
            <a:avLst/>
          </a:prstGeom>
        </p:spPr>
        <p:txBody>
          <a:bodyPr vert="horz" lIns="64008" tIns="45720" rIns="91440" bIns="45720" rtlCol="0" anchor="ctr"/>
          <a:lstStyle>
            <a:lvl1pPr>
              <a:defRPr lang="en-IN" sz="933"/>
            </a:lvl1pPr>
          </a:lstStyle>
          <a:p>
            <a:r>
              <a:rPr lang="en-IN"/>
              <a:t>TCS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DCB85-668C-1A07-18A7-82A4D4D714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732464" y="6590128"/>
            <a:ext cx="400784" cy="169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>
              <a:defRPr lang="en-IN" sz="933" b="1" smtClean="0">
                <a:solidFill>
                  <a:schemeClr val="bg1">
                    <a:lumMod val="50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algn="ctr" defTabSz="1219110"/>
            <a:fld id="{662A0901-ACEF-4BE9-9C8C-C119B421173E}" type="slidenum">
              <a:rPr lang="en-US" smtClean="0"/>
              <a:pPr algn="ctr" defTabSz="121911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CE2272-ED9B-DD02-B7B0-029616CF6AB1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28" r="728"/>
          <a:stretch/>
        </p:blipFill>
        <p:spPr>
          <a:xfrm>
            <a:off x="11237839" y="6196840"/>
            <a:ext cx="581292" cy="517277"/>
          </a:xfrm>
          <a:prstGeom prst="rect">
            <a:avLst/>
          </a:prstGeom>
        </p:spPr>
      </p:pic>
      <p:pic>
        <p:nvPicPr>
          <p:cNvPr id="8" name="Picture 7" descr="A close-up of a sign&#10;&#10;Description automatically generated">
            <a:extLst>
              <a:ext uri="{FF2B5EF4-FFF2-40B4-BE49-F238E27FC236}">
                <a16:creationId xmlns:a16="http://schemas.microsoft.com/office/drawing/2014/main" id="{CAE4914F-666B-70AC-6C67-9424F69EF375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6310751"/>
            <a:ext cx="1689205" cy="40336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04A0732-89C6-3C17-1231-F15060AB29F0}"/>
              </a:ext>
            </a:extLst>
          </p:cNvPr>
          <p:cNvCxnSpPr/>
          <p:nvPr userDrawn="1"/>
        </p:nvCxnSpPr>
        <p:spPr>
          <a:xfrm>
            <a:off x="6086669" y="6590128"/>
            <a:ext cx="0" cy="169560"/>
          </a:xfrm>
          <a:prstGeom prst="line">
            <a:avLst/>
          </a:prstGeom>
          <a:ln>
            <a:solidFill>
              <a:srgbClr val="808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6570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dt="0"/>
  <p:txStyles>
    <p:titleStyle>
      <a:lvl1pPr algn="l" defTabSz="1219110" rtl="0" eaLnBrk="1" latinLnBrk="0" hangingPunct="1">
        <a:lnSpc>
          <a:spcPct val="90000"/>
        </a:lnSpc>
        <a:spcBef>
          <a:spcPct val="0"/>
        </a:spcBef>
        <a:buNone/>
        <a:defRPr lang="en-IN" sz="2800" b="0" kern="0" baseline="0" dirty="0" smtClean="0">
          <a:solidFill>
            <a:srgbClr val="4E84C4"/>
          </a:solidFill>
          <a:latin typeface="+mj-lt"/>
          <a:ea typeface="+mj-ea"/>
          <a:cs typeface="+mj-cs"/>
        </a:defRPr>
      </a:lvl1pPr>
    </p:titleStyle>
    <p:bodyStyle>
      <a:lvl1pPr marL="304776" indent="-304776" algn="l" defTabSz="1219110" rtl="0" eaLnBrk="1" latinLnBrk="0" hangingPunct="1">
        <a:lnSpc>
          <a:spcPct val="90000"/>
        </a:lnSpc>
        <a:spcBef>
          <a:spcPts val="1333"/>
        </a:spcBef>
        <a:buClr>
          <a:srgbClr val="4E84C4"/>
        </a:buClr>
        <a:buFont typeface="Arial" panose="020B0604020202020204" pitchFamily="34" charset="0"/>
        <a:buChar char="•"/>
        <a:defRPr sz="2133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618019" indent="-304776" algn="l" defTabSz="1219110" rtl="0" eaLnBrk="1" latinLnBrk="0" hangingPunct="1">
        <a:lnSpc>
          <a:spcPct val="90000"/>
        </a:lnSpc>
        <a:spcBef>
          <a:spcPts val="667"/>
        </a:spcBef>
        <a:buClr>
          <a:srgbClr val="4E84C4"/>
        </a:buClr>
        <a:buFont typeface="Symbol" panose="05050102010706020507" pitchFamily="18" charset="2"/>
        <a:buChar char="-"/>
        <a:defRPr sz="2133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8565" indent="-304776" algn="l" defTabSz="1219110" rtl="0" eaLnBrk="1" latinLnBrk="0" hangingPunct="1">
        <a:lnSpc>
          <a:spcPct val="90000"/>
        </a:lnSpc>
        <a:spcBef>
          <a:spcPts val="667"/>
        </a:spcBef>
        <a:buClr>
          <a:srgbClr val="4E84C4"/>
        </a:buClr>
        <a:buFont typeface="Arial" panose="020B0604020202020204" pitchFamily="34" charset="0"/>
        <a:buChar char="•"/>
        <a:defRPr sz="2133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219110" indent="-304776" algn="l" defTabSz="1219110" rtl="0" eaLnBrk="1" latinLnBrk="0" hangingPunct="1">
        <a:lnSpc>
          <a:spcPct val="90000"/>
        </a:lnSpc>
        <a:spcBef>
          <a:spcPts val="667"/>
        </a:spcBef>
        <a:buClr>
          <a:srgbClr val="4E84C4"/>
        </a:buClr>
        <a:buFont typeface="Courier New" panose="02070309020205020404" pitchFamily="49" charset="0"/>
        <a:buChar char="o"/>
        <a:tabLst/>
        <a:defRPr sz="2133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519653" indent="-304776" algn="l" defTabSz="1219110" rtl="0" eaLnBrk="1" latinLnBrk="0" hangingPunct="1">
        <a:lnSpc>
          <a:spcPct val="90000"/>
        </a:lnSpc>
        <a:spcBef>
          <a:spcPts val="667"/>
        </a:spcBef>
        <a:buClr>
          <a:srgbClr val="4E84C4"/>
        </a:buClr>
        <a:buFont typeface="Arial" panose="020B0604020202020204" pitchFamily="34" charset="0"/>
        <a:buChar char="•"/>
        <a:defRPr sz="2133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3352548" indent="-304776" algn="l" defTabSz="121911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121911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121911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121911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9">
          <p15:clr>
            <a:srgbClr val="F26B43"/>
          </p15:clr>
        </p15:guide>
        <p15:guide id="2" pos="172">
          <p15:clr>
            <a:srgbClr val="F26B43"/>
          </p15:clr>
        </p15:guide>
        <p15:guide id="3" pos="5573">
          <p15:clr>
            <a:srgbClr val="F26B43"/>
          </p15:clr>
        </p15:guide>
        <p15:guide id="4" orient="horz" pos="1720">
          <p15:clr>
            <a:srgbClr val="F26B43"/>
          </p15:clr>
        </p15:guide>
        <p15:guide id="5" orient="horz" pos="2916">
          <p15:clr>
            <a:srgbClr val="F26B43"/>
          </p15:clr>
        </p15:guide>
        <p15:guide id="6" orient="horz" pos="531">
          <p15:clr>
            <a:srgbClr val="F26B43"/>
          </p15:clr>
        </p15:guide>
        <p15:guide id="7" pos="288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9E663A1-B469-4477-ACD8-AF6930245A32}"/>
              </a:ext>
            </a:extLst>
          </p:cNvPr>
          <p:cNvSpPr/>
          <p:nvPr userDrawn="1"/>
        </p:nvSpPr>
        <p:spPr>
          <a:xfrm>
            <a:off x="389467" y="3193989"/>
            <a:ext cx="3533967" cy="467586"/>
          </a:xfrm>
          <a:prstGeom prst="rect">
            <a:avLst/>
          </a:prstGeom>
        </p:spPr>
        <p:txBody>
          <a:bodyPr vert="horz" wrap="square" lIns="0" tIns="16087" rIns="0" bIns="0" rtlCol="0" anchor="ctr">
            <a:spAutoFit/>
          </a:bodyPr>
          <a:lstStyle/>
          <a:p>
            <a:pPr lvl="0"/>
            <a:r>
              <a:rPr lang="en-US" sz="2933" b="0" kern="0" baseline="0"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0722452D-299C-4935-8E11-CB749311D789}"/>
              </a:ext>
            </a:extLst>
          </p:cNvPr>
          <p:cNvSpPr txBox="1"/>
          <p:nvPr userDrawn="1"/>
        </p:nvSpPr>
        <p:spPr>
          <a:xfrm>
            <a:off x="385159" y="6570134"/>
            <a:ext cx="2526461" cy="143565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7701">
              <a:lnSpc>
                <a:spcPct val="100000"/>
              </a:lnSpc>
              <a:spcBef>
                <a:spcPts val="60"/>
              </a:spcBef>
            </a:pPr>
            <a:r>
              <a:rPr sz="933" b="0" spc="-3" dirty="0">
                <a:solidFill>
                  <a:schemeClr val="tx1"/>
                </a:solidFill>
                <a:latin typeface="Calibri"/>
                <a:cs typeface="Calibri"/>
              </a:rPr>
              <a:t>Copyright</a:t>
            </a:r>
            <a:r>
              <a:rPr sz="933" b="0" spc="-9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933" b="0" dirty="0">
                <a:solidFill>
                  <a:schemeClr val="tx1"/>
                </a:solidFill>
                <a:latin typeface="Calibri"/>
                <a:cs typeface="Calibri"/>
              </a:rPr>
              <a:t>©</a:t>
            </a:r>
            <a:r>
              <a:rPr sz="933" b="0" spc="-9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933" b="0" dirty="0">
                <a:solidFill>
                  <a:schemeClr val="tx1"/>
                </a:solidFill>
                <a:latin typeface="Calibri"/>
                <a:cs typeface="Calibri"/>
              </a:rPr>
              <a:t>202</a:t>
            </a:r>
            <a:r>
              <a:rPr lang="en-IN" sz="933" b="0" dirty="0">
                <a:solidFill>
                  <a:schemeClr val="tx1"/>
                </a:solidFill>
                <a:latin typeface="Calibri"/>
                <a:cs typeface="Calibri"/>
              </a:rPr>
              <a:t>5</a:t>
            </a:r>
            <a:r>
              <a:rPr sz="933" b="0" spc="-3" dirty="0">
                <a:solidFill>
                  <a:schemeClr val="tx1"/>
                </a:solidFill>
                <a:latin typeface="Calibri"/>
                <a:cs typeface="Calibri"/>
              </a:rPr>
              <a:t> Tata</a:t>
            </a:r>
            <a:r>
              <a:rPr sz="933" b="0" spc="-9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933" b="0" spc="-3" dirty="0">
                <a:solidFill>
                  <a:schemeClr val="tx1"/>
                </a:solidFill>
                <a:latin typeface="Calibri"/>
                <a:cs typeface="Calibri"/>
              </a:rPr>
              <a:t>Consultancy</a:t>
            </a:r>
            <a:r>
              <a:rPr sz="933" b="0" spc="-9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933" b="0" spc="-3" dirty="0">
                <a:solidFill>
                  <a:schemeClr val="tx1"/>
                </a:solidFill>
                <a:latin typeface="Calibri"/>
                <a:cs typeface="Calibri"/>
              </a:rPr>
              <a:t>Services Limited</a:t>
            </a:r>
            <a:endParaRPr sz="933" b="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22E0E5C-42D9-44C3-89C1-D707CE9B147A}"/>
              </a:ext>
            </a:extLst>
          </p:cNvPr>
          <p:cNvSpPr/>
          <p:nvPr userDrawn="1"/>
        </p:nvSpPr>
        <p:spPr>
          <a:xfrm>
            <a:off x="94187" y="134303"/>
            <a:ext cx="197916" cy="194384"/>
          </a:xfrm>
          <a:prstGeom prst="rect">
            <a:avLst/>
          </a:prstGeom>
          <a:solidFill>
            <a:srgbClr val="E411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133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831B4C3-D5FA-4A30-BE4D-5CDA923C786E}"/>
              </a:ext>
            </a:extLst>
          </p:cNvPr>
          <p:cNvCxnSpPr>
            <a:cxnSpLocks/>
          </p:cNvCxnSpPr>
          <p:nvPr userDrawn="1"/>
        </p:nvCxnSpPr>
        <p:spPr>
          <a:xfrm>
            <a:off x="121439" y="364669"/>
            <a:ext cx="143408" cy="0"/>
          </a:xfrm>
          <a:prstGeom prst="line">
            <a:avLst/>
          </a:prstGeom>
          <a:ln>
            <a:solidFill>
              <a:srgbClr val="E411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1F9BF62-AEA7-458C-8360-8B032A2CF622}"/>
              </a:ext>
            </a:extLst>
          </p:cNvPr>
          <p:cNvSpPr txBox="1"/>
          <p:nvPr userDrawn="1"/>
        </p:nvSpPr>
        <p:spPr>
          <a:xfrm>
            <a:off x="94187" y="441069"/>
            <a:ext cx="197916" cy="194384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US" sz="2133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0EB9762-CAFF-4D0A-B818-46287453272F}"/>
              </a:ext>
            </a:extLst>
          </p:cNvPr>
          <p:cNvSpPr/>
          <p:nvPr userDrawn="1"/>
        </p:nvSpPr>
        <p:spPr>
          <a:xfrm>
            <a:off x="49735" y="85017"/>
            <a:ext cx="286816" cy="5275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55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605FDF7-5390-3F81-DEF8-714D2F34CCA8}"/>
              </a:ext>
            </a:extLst>
          </p:cNvPr>
          <p:cNvGrpSpPr/>
          <p:nvPr userDrawn="1"/>
        </p:nvGrpSpPr>
        <p:grpSpPr>
          <a:xfrm>
            <a:off x="292106" y="160528"/>
            <a:ext cx="11529481" cy="672485"/>
            <a:chOff x="219077" y="132041"/>
            <a:chExt cx="8647111" cy="504364"/>
          </a:xfrm>
        </p:grpSpPr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AA217314-B936-1115-7E01-1ECDB5F8A18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36534" b="36534"/>
            <a:stretch/>
          </p:blipFill>
          <p:spPr>
            <a:xfrm>
              <a:off x="219077" y="201151"/>
              <a:ext cx="1616067" cy="435254"/>
            </a:xfrm>
            <a:prstGeom prst="rect">
              <a:avLst/>
            </a:prstGeom>
          </p:spPr>
        </p:pic>
        <p:pic>
          <p:nvPicPr>
            <p:cNvPr id="6" name="Picture 5" descr="A white logo on a black background&#10;&#10;Description automatically generated">
              <a:extLst>
                <a:ext uri="{FF2B5EF4-FFF2-40B4-BE49-F238E27FC236}">
                  <a16:creationId xmlns:a16="http://schemas.microsoft.com/office/drawing/2014/main" id="{37900AFE-F55F-6A89-2A06-D08CC657237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>
              <a:biLevel thresh="75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-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0" t="24814" r="21396" b="24815"/>
            <a:stretch/>
          </p:blipFill>
          <p:spPr>
            <a:xfrm>
              <a:off x="8322775" y="132041"/>
              <a:ext cx="543413" cy="4835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43479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hf hdr="0" dt="0"/>
  <p:txStyles>
    <p:titleStyle>
      <a:lvl1pPr algn="l" defTabSz="1219110" rtl="0" eaLnBrk="1" latinLnBrk="0" hangingPunct="1">
        <a:lnSpc>
          <a:spcPct val="100000"/>
        </a:lnSpc>
        <a:spcBef>
          <a:spcPct val="0"/>
        </a:spcBef>
        <a:buNone/>
        <a:defRPr lang="en-US" sz="2933" b="0" i="0" kern="0" spc="-7" baseline="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21911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lang="en-US" sz="2133" kern="1200" spc="3" dirty="0" smtClean="0">
          <a:solidFill>
            <a:srgbClr val="E41165"/>
          </a:solidFill>
          <a:latin typeface="Calibri"/>
          <a:ea typeface="+mn-ea"/>
          <a:cs typeface="Calibri"/>
        </a:defRPr>
      </a:lvl1pPr>
      <a:lvl2pPr marL="914332" indent="-304776" algn="l" defTabSz="121911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2pPr>
      <a:lvl3pPr marL="1523887" indent="-304776" algn="l" defTabSz="121911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bg1"/>
          </a:solidFill>
          <a:latin typeface="+mn-lt"/>
          <a:ea typeface="+mn-ea"/>
          <a:cs typeface="+mn-cs"/>
        </a:defRPr>
      </a:lvl3pPr>
      <a:lvl4pPr marL="2133440" indent="-304776" algn="l" defTabSz="121911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4pPr>
      <a:lvl5pPr marL="2742994" indent="-304776" algn="l" defTabSz="121911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5pPr>
      <a:lvl6pPr marL="3352548" indent="-304776" algn="l" defTabSz="121911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121911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121911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121911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772">
          <p15:clr>
            <a:srgbClr val="F26B43"/>
          </p15:clr>
        </p15:guide>
        <p15:guide id="2" orient="horz" pos="2852">
          <p15:clr>
            <a:srgbClr val="F26B43"/>
          </p15:clr>
        </p15:guide>
        <p15:guide id="3" orient="horz" pos="360">
          <p15:clr>
            <a:srgbClr val="F26B43"/>
          </p15:clr>
        </p15:guide>
        <p15:guide id="5" pos="180">
          <p15:clr>
            <a:srgbClr val="F26B43"/>
          </p15:clr>
        </p15:guide>
        <p15:guide id="6" pos="5580">
          <p15:clr>
            <a:srgbClr val="F26B43"/>
          </p15:clr>
        </p15:guide>
        <p15:guide id="7" orient="horz" pos="162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16.emf"/><Relationship Id="rId3" Type="http://schemas.openxmlformats.org/officeDocument/2006/relationships/image" Target="../media/image11.emf"/><Relationship Id="rId7" Type="http://schemas.openxmlformats.org/officeDocument/2006/relationships/image" Target="../media/image13.emf"/><Relationship Id="rId12" Type="http://schemas.openxmlformats.org/officeDocument/2006/relationships/oleObject" Target="../embeddings/oleObject6.bin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15.emf"/><Relationship Id="rId5" Type="http://schemas.openxmlformats.org/officeDocument/2006/relationships/image" Target="../media/image12.emf"/><Relationship Id="rId15" Type="http://schemas.openxmlformats.org/officeDocument/2006/relationships/image" Target="../media/image17.e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14.emf"/><Relationship Id="rId14" Type="http://schemas.openxmlformats.org/officeDocument/2006/relationships/oleObject" Target="../embeddings/oleObject7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mailto:ulhas.morbale@tcs.com" TargetMode="External"/><Relationship Id="rId13" Type="http://schemas.openxmlformats.org/officeDocument/2006/relationships/hyperlink" Target="mailto:d.joydeep@tcs.com" TargetMode="External"/><Relationship Id="rId3" Type="http://schemas.openxmlformats.org/officeDocument/2006/relationships/hyperlink" Target="mailto:mazumder.avik@tcs.com" TargetMode="External"/><Relationship Id="rId7" Type="http://schemas.openxmlformats.org/officeDocument/2006/relationships/hyperlink" Target="mailto:s.sathishkumar14@tcs.com" TargetMode="External"/><Relationship Id="rId12" Type="http://schemas.openxmlformats.org/officeDocument/2006/relationships/hyperlink" Target="mailto:das.priyanka6@tcs.com" TargetMode="External"/><Relationship Id="rId17" Type="http://schemas.openxmlformats.org/officeDocument/2006/relationships/hyperlink" Target="mailto:vishnu.moochickal@tcs.com" TargetMode="External"/><Relationship Id="rId2" Type="http://schemas.openxmlformats.org/officeDocument/2006/relationships/hyperlink" Target="mailto:mukherjee.sudip@tcs.com" TargetMode="External"/><Relationship Id="rId16" Type="http://schemas.openxmlformats.org/officeDocument/2006/relationships/hyperlink" Target="mailto:swagatika.mohanty2@tcs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deven.singh@tcs.com" TargetMode="External"/><Relationship Id="rId11" Type="http://schemas.openxmlformats.org/officeDocument/2006/relationships/hyperlink" Target="mailto:krishnakumar.baskar@tcs.com" TargetMode="External"/><Relationship Id="rId5" Type="http://schemas.openxmlformats.org/officeDocument/2006/relationships/hyperlink" Target="mailto:s.srinivasan12@tcs.com" TargetMode="External"/><Relationship Id="rId15" Type="http://schemas.openxmlformats.org/officeDocument/2006/relationships/hyperlink" Target="mailto:warish.khan@tcs.com" TargetMode="External"/><Relationship Id="rId10" Type="http://schemas.openxmlformats.org/officeDocument/2006/relationships/hyperlink" Target="mailto:divaker.shukla@tcs.com" TargetMode="External"/><Relationship Id="rId4" Type="http://schemas.openxmlformats.org/officeDocument/2006/relationships/hyperlink" Target="mailto:durgaprasad.pechetti@tcs.com" TargetMode="External"/><Relationship Id="rId9" Type="http://schemas.openxmlformats.org/officeDocument/2006/relationships/hyperlink" Target="mailto:chowdhury.payel@tcs.com" TargetMode="External"/><Relationship Id="rId14" Type="http://schemas.openxmlformats.org/officeDocument/2006/relationships/hyperlink" Target="mailto:kumar.abhimanyu1@tcs.com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92F1C-25A6-F949-E1E2-1FCD85FFB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Banking Fraud Detection System with Generative AI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FB4B027-18CC-5ADD-235C-28EF7D6444AF}"/>
              </a:ext>
            </a:extLst>
          </p:cNvPr>
          <p:cNvSpPr txBox="1">
            <a:spLocks/>
          </p:cNvSpPr>
          <p:nvPr/>
        </p:nvSpPr>
        <p:spPr>
          <a:xfrm>
            <a:off x="424474" y="681851"/>
            <a:ext cx="10514927" cy="5434180"/>
          </a:xfrm>
          <a:prstGeom prst="rect">
            <a:avLst/>
          </a:prstGeom>
        </p:spPr>
        <p:txBody>
          <a:bodyPr vert="horz" wrap="square" lIns="0" tIns="17145" rIns="0" bIns="0" rtlCol="0" anchor="ctr">
            <a:spAutoFit/>
          </a:bodyPr>
          <a:lstStyle>
            <a:lvl1pPr marL="0" indent="0" algn="l" defTabSz="1219170" rtl="0" eaLnBrk="1" latinLnBrk="0" hangingPunct="1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  <a:defRPr lang="en-US" sz="3999" kern="1200" spc="3">
                <a:solidFill>
                  <a:schemeClr val="tx1">
                    <a:alpha val="99000"/>
                  </a:schemeClr>
                </a:solidFill>
                <a:latin typeface="Calibri"/>
                <a:ea typeface="+mn-ea"/>
                <a:cs typeface="Calibri"/>
              </a:defRPr>
            </a:lvl1pPr>
            <a:lvl2pPr marL="284077" marR="0" indent="0" algn="l" defTabSz="914089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itchFamily="2" charset="2"/>
              <a:buNone/>
              <a:tabLst/>
              <a:defRPr lang="en-US" sz="2399" kern="1200" spc="0" baseline="0" dirty="0" smtClean="0">
                <a:solidFill>
                  <a:schemeClr val="tx1">
                    <a:alpha val="99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17370" indent="0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Wingdings" pitchFamily="2" charset="2"/>
              <a:buNone/>
              <a:tabLst/>
              <a:defRPr sz="2667" kern="1200">
                <a:solidFill>
                  <a:schemeClr val="tx1">
                    <a:alpha val="99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1140" indent="0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Wingdings" pitchFamily="2" charset="2"/>
              <a:buNone/>
              <a:defRPr sz="2400" kern="1200">
                <a:solidFill>
                  <a:schemeClr val="tx1">
                    <a:alpha val="99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14126" indent="0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Wingdings" pitchFamily="2" charset="2"/>
              <a:buNone/>
              <a:tabLst/>
              <a:defRPr sz="2400" kern="1200">
                <a:solidFill>
                  <a:schemeClr val="tx1">
                    <a:alpha val="99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/>
              <a:t>What Does This System Do?</a:t>
            </a:r>
          </a:p>
          <a:p>
            <a:r>
              <a:rPr lang="en-US" sz="2000" b="1" dirty="0">
                <a:latin typeface="+mj-lt"/>
              </a:rPr>
              <a:t>Purpose:</a:t>
            </a:r>
            <a:br>
              <a:rPr lang="en-US" sz="2800" dirty="0"/>
            </a:br>
            <a:r>
              <a:rPr lang="en-US" sz="1600" dirty="0">
                <a:latin typeface="+mj-lt"/>
              </a:rPr>
              <a:t>Identify potentially fraudulent banking, UPI transactions </a:t>
            </a:r>
            <a:r>
              <a:rPr lang="en-US" sz="1600" dirty="0" err="1">
                <a:latin typeface="+mj-lt"/>
              </a:rPr>
              <a:t>etc</a:t>
            </a:r>
            <a:r>
              <a:rPr lang="en-US" sz="1600" dirty="0">
                <a:latin typeface="+mj-lt"/>
              </a:rPr>
              <a:t> using </a:t>
            </a:r>
            <a:r>
              <a:rPr lang="en-US" sz="1600" b="1" dirty="0">
                <a:latin typeface="+mj-lt"/>
              </a:rPr>
              <a:t>unsupervised machine learning</a:t>
            </a:r>
            <a:r>
              <a:rPr lang="en-US" sz="1600" dirty="0">
                <a:latin typeface="+mj-lt"/>
              </a:rPr>
              <a:t> techniques.</a:t>
            </a:r>
          </a:p>
          <a:p>
            <a:endParaRPr lang="en-US" sz="1200" dirty="0">
              <a:latin typeface="+mj-lt"/>
            </a:endParaRPr>
          </a:p>
          <a:p>
            <a:r>
              <a:rPr lang="en-US" sz="2000" b="1" dirty="0">
                <a:latin typeface="+mj-lt"/>
              </a:rPr>
              <a:t>Key Capabilities:</a:t>
            </a:r>
            <a:endParaRPr lang="en-US" sz="2000" dirty="0">
              <a:latin typeface="+mj-lt"/>
            </a:endParaRPr>
          </a:p>
          <a:p>
            <a:r>
              <a:rPr lang="en-US" sz="1600" dirty="0">
                <a:latin typeface="+mj-lt"/>
              </a:rPr>
              <a:t>Processes and analyzes </a:t>
            </a:r>
            <a:r>
              <a:rPr lang="en-US" sz="1600" b="1" dirty="0">
                <a:latin typeface="+mj-lt"/>
              </a:rPr>
              <a:t>5,000 transactions</a:t>
            </a:r>
            <a:r>
              <a:rPr lang="en-US" sz="1600" dirty="0">
                <a:latin typeface="+mj-lt"/>
              </a:rPr>
              <a:t> across </a:t>
            </a:r>
            <a:r>
              <a:rPr lang="en-US" sz="1600" b="1" dirty="0">
                <a:latin typeface="+mj-lt"/>
              </a:rPr>
              <a:t>421 features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dirty="0">
                <a:latin typeface="+mj-lt"/>
              </a:rPr>
              <a:t>Generated using the all-MiniLM-L6-v2 Sentence Transformer model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dirty="0">
                <a:latin typeface="+mj-lt"/>
              </a:rPr>
              <a:t>Converts transaction descriptions (text) into 384-dimensional vectors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dirty="0">
                <a:latin typeface="+mj-lt"/>
              </a:rPr>
              <a:t>37 numerical features</a:t>
            </a:r>
          </a:p>
          <a:p>
            <a:r>
              <a:rPr lang="en-US" sz="1600" b="1" dirty="0">
                <a:latin typeface="+mj-lt"/>
              </a:rPr>
              <a:t>Split dataset into 80/20 (3300 Legitimate </a:t>
            </a:r>
            <a:r>
              <a:rPr lang="en-US" sz="1600" b="1" dirty="0" err="1">
                <a:latin typeface="+mj-lt"/>
              </a:rPr>
              <a:t>txns</a:t>
            </a:r>
            <a:r>
              <a:rPr lang="en-US" sz="1600" b="1" dirty="0">
                <a:latin typeface="+mj-lt"/>
              </a:rPr>
              <a:t> for Training and 1700 for Testing)</a:t>
            </a:r>
            <a:endParaRPr lang="en-US" sz="1600" dirty="0">
              <a:latin typeface="+mj-lt"/>
            </a:endParaRPr>
          </a:p>
          <a:p>
            <a:r>
              <a:rPr lang="en-US" sz="1600" dirty="0">
                <a:latin typeface="+mj-lt"/>
              </a:rPr>
              <a:t>Trains exclusively on </a:t>
            </a:r>
            <a:r>
              <a:rPr lang="en-US" sz="1600" b="1" dirty="0">
                <a:latin typeface="+mj-lt"/>
              </a:rPr>
              <a:t>legitimate transactions</a:t>
            </a:r>
            <a:r>
              <a:rPr lang="en-US" sz="1600" dirty="0">
                <a:latin typeface="+mj-lt"/>
              </a:rPr>
              <a:t> (unsupervised approach)</a:t>
            </a:r>
          </a:p>
          <a:p>
            <a:r>
              <a:rPr lang="en-US" sz="1600" dirty="0">
                <a:latin typeface="+mj-lt"/>
              </a:rPr>
              <a:t>Detects anomalous behavior using </a:t>
            </a:r>
            <a:r>
              <a:rPr lang="en-US" sz="1600" b="1" dirty="0">
                <a:latin typeface="+mj-lt"/>
              </a:rPr>
              <a:t>four machine learning models</a:t>
            </a:r>
            <a:endParaRPr lang="en-US" sz="1600" dirty="0">
              <a:latin typeface="+mj-lt"/>
            </a:endParaRPr>
          </a:p>
          <a:p>
            <a:r>
              <a:rPr lang="en-US" sz="1600" dirty="0">
                <a:latin typeface="+mj-lt"/>
              </a:rPr>
              <a:t>Produces </a:t>
            </a:r>
            <a:r>
              <a:rPr lang="en-US" sz="1600" b="1" dirty="0">
                <a:latin typeface="+mj-lt"/>
              </a:rPr>
              <a:t>clear, human-readable fraud explanations</a:t>
            </a:r>
            <a:r>
              <a:rPr lang="en-US" sz="1600" dirty="0">
                <a:latin typeface="+mj-lt"/>
              </a:rPr>
              <a:t> via </a:t>
            </a:r>
            <a:r>
              <a:rPr lang="en-US" sz="1600" b="1" dirty="0">
                <a:latin typeface="+mj-lt"/>
              </a:rPr>
              <a:t>OpenAI</a:t>
            </a:r>
            <a:r>
              <a:rPr lang="en-US" sz="1600" dirty="0">
                <a:latin typeface="+mj-lt"/>
              </a:rPr>
              <a:t> or </a:t>
            </a:r>
            <a:r>
              <a:rPr lang="en-US" sz="1600" b="1" dirty="0">
                <a:latin typeface="+mj-lt"/>
              </a:rPr>
              <a:t>rule-based/manual explanations</a:t>
            </a:r>
            <a:r>
              <a:rPr lang="en-US" sz="1600" dirty="0">
                <a:latin typeface="+mj-lt"/>
              </a:rPr>
              <a:t>, based on the selected dynamic parameter</a:t>
            </a:r>
          </a:p>
          <a:p>
            <a:r>
              <a:rPr lang="en-US" sz="1600" dirty="0">
                <a:latin typeface="+mj-lt"/>
              </a:rPr>
              <a:t>Delivers </a:t>
            </a:r>
            <a:r>
              <a:rPr lang="en-US" sz="1600" b="1" dirty="0">
                <a:latin typeface="+mj-lt"/>
              </a:rPr>
              <a:t>risk scores</a:t>
            </a:r>
            <a:r>
              <a:rPr lang="en-US" sz="1600" dirty="0">
                <a:latin typeface="+mj-lt"/>
              </a:rPr>
              <a:t> along with </a:t>
            </a:r>
            <a:r>
              <a:rPr lang="en-US" sz="1600" b="1" dirty="0">
                <a:latin typeface="+mj-lt"/>
              </a:rPr>
              <a:t>compliance-focused recommendations</a:t>
            </a:r>
            <a:endParaRPr lang="en-US" sz="1600" dirty="0">
              <a:latin typeface="+mj-lt"/>
            </a:endParaRPr>
          </a:p>
          <a:p>
            <a:pPr marL="342900" indent="-342900">
              <a:buFontTx/>
              <a:buChar char="-"/>
            </a:pPr>
            <a:endParaRPr lang="en-US" sz="1200" dirty="0">
              <a:latin typeface="+mj-lt"/>
            </a:endParaRPr>
          </a:p>
          <a:p>
            <a:endParaRPr lang="en-US" sz="1200" dirty="0">
              <a:latin typeface="+mj-lt"/>
            </a:endParaRPr>
          </a:p>
          <a:p>
            <a:endParaRPr lang="en-US" sz="1000" dirty="0">
              <a:latin typeface="+mj-lt"/>
            </a:endParaRPr>
          </a:p>
          <a:p>
            <a:endParaRPr lang="en-US" sz="1000" dirty="0">
              <a:latin typeface="+mj-lt"/>
            </a:endParaRPr>
          </a:p>
          <a:p>
            <a:endParaRPr lang="en-US" sz="1000" dirty="0">
              <a:latin typeface="+mj-lt"/>
            </a:endParaRPr>
          </a:p>
          <a:p>
            <a:br>
              <a:rPr lang="en-US" sz="1000" dirty="0">
                <a:latin typeface="+mj-lt"/>
              </a:rPr>
            </a:br>
            <a:endParaRPr lang="en-US" sz="1000" dirty="0">
              <a:latin typeface="+mj-lt"/>
            </a:endParaRPr>
          </a:p>
          <a:p>
            <a:r>
              <a:rPr lang="en-US" sz="1200" i="1" dirty="0">
                <a:latin typeface="+mj-lt"/>
              </a:rPr>
              <a:t>*Presented by: Abhimanyu Kumar(1070835)</a:t>
            </a:r>
            <a:endParaRPr lang="en-US" sz="1200" dirty="0">
              <a:latin typeface="+mj-lt"/>
            </a:endParaRPr>
          </a:p>
          <a:p>
            <a:r>
              <a:rPr lang="en-US" sz="1200" i="1" dirty="0">
                <a:latin typeface="+mj-lt"/>
              </a:rPr>
              <a:t>*Date: December 19, 2025*</a:t>
            </a:r>
            <a:endParaRPr lang="en-US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214466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326" y="143890"/>
            <a:ext cx="10514927" cy="44604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b="1" dirty="0"/>
              <a:t>Real World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defRPr sz="1800">
                <a:solidFill>
                  <a:srgbClr val="595959"/>
                </a:solidFill>
              </a:defRPr>
            </a:pPr>
            <a:endParaRPr sz="1000" dirty="0">
              <a:latin typeface="+mj-lt"/>
            </a:endParaRPr>
          </a:p>
          <a:p>
            <a:pPr>
              <a:defRPr sz="1800">
                <a:solidFill>
                  <a:srgbClr val="595959"/>
                </a:solidFill>
              </a:defRPr>
            </a:pPr>
            <a:endParaRPr sz="1000" dirty="0">
              <a:latin typeface="+mj-lt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C99E10-48FD-3A88-D3D7-F26C5B73E6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8429" y="698178"/>
            <a:ext cx="4607030" cy="2730822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1000" b="1" dirty="0">
                <a:latin typeface="+mj-lt"/>
              </a:rPr>
              <a:t>### **1. Retail Banking - Transaction Monitoring**</a:t>
            </a:r>
            <a:endParaRPr lang="en-US" sz="1000" dirty="0">
              <a:latin typeface="+mj-lt"/>
            </a:endParaRPr>
          </a:p>
          <a:p>
            <a:r>
              <a:rPr lang="en-US" sz="1000" b="1" dirty="0">
                <a:latin typeface="+mj-lt"/>
              </a:rPr>
              <a:t>**Scenario:**</a:t>
            </a:r>
            <a:r>
              <a:rPr lang="en-US" sz="1000" dirty="0">
                <a:latin typeface="+mj-lt"/>
              </a:rPr>
              <a:t> Major bank processes 10 million+ daily transactions</a:t>
            </a:r>
          </a:p>
          <a:p>
            <a:r>
              <a:rPr lang="en-US" sz="1000" dirty="0">
                <a:latin typeface="+mj-lt"/>
              </a:rPr>
              <a:t>- </a:t>
            </a:r>
            <a:r>
              <a:rPr lang="en-US" sz="1000" b="1" dirty="0">
                <a:latin typeface="+mj-lt"/>
              </a:rPr>
              <a:t>**Challenge:**</a:t>
            </a:r>
            <a:r>
              <a:rPr lang="en-US" sz="1000" dirty="0">
                <a:latin typeface="+mj-lt"/>
              </a:rPr>
              <a:t> Manual review impossible, traditional rules miss 30% of fraud</a:t>
            </a:r>
          </a:p>
          <a:p>
            <a:r>
              <a:rPr lang="en-US" sz="1000" dirty="0">
                <a:latin typeface="+mj-lt"/>
              </a:rPr>
              <a:t>- </a:t>
            </a:r>
            <a:r>
              <a:rPr lang="en-US" sz="1000" b="1" dirty="0">
                <a:latin typeface="+mj-lt"/>
              </a:rPr>
              <a:t>**Solution:**</a:t>
            </a:r>
            <a:r>
              <a:rPr lang="en-US" sz="1000" dirty="0">
                <a:latin typeface="+mj-lt"/>
              </a:rPr>
              <a:t> Real-time anomaly detection flags suspicious transactions</a:t>
            </a:r>
          </a:p>
          <a:p>
            <a:r>
              <a:rPr lang="en-US" sz="1000" dirty="0">
                <a:latin typeface="+mj-lt"/>
              </a:rPr>
              <a:t>- </a:t>
            </a:r>
            <a:r>
              <a:rPr lang="en-US" sz="1000" b="1" dirty="0">
                <a:latin typeface="+mj-lt"/>
              </a:rPr>
              <a:t>**Impact:**</a:t>
            </a:r>
            <a:r>
              <a:rPr lang="en-US" sz="1000" dirty="0">
                <a:latin typeface="+mj-lt"/>
              </a:rPr>
              <a:t> </a:t>
            </a:r>
          </a:p>
          <a:p>
            <a:r>
              <a:rPr lang="en-US" sz="1000" dirty="0">
                <a:latin typeface="+mj-lt"/>
              </a:rPr>
              <a:t>  - Reduced fraud losses by $50M annually</a:t>
            </a:r>
          </a:p>
          <a:p>
            <a:r>
              <a:rPr lang="en-US" sz="1000" dirty="0">
                <a:latin typeface="+mj-lt"/>
              </a:rPr>
              <a:t>  - Decreased false positives by 60%</a:t>
            </a:r>
          </a:p>
          <a:p>
            <a:r>
              <a:rPr lang="en-US" sz="1000" dirty="0">
                <a:latin typeface="+mj-lt"/>
              </a:rPr>
              <a:t>  - Response time improved from hours to seconds</a:t>
            </a:r>
          </a:p>
          <a:p>
            <a:endParaRPr lang="en-US" sz="1000" dirty="0">
              <a:latin typeface="+mj-lt"/>
            </a:endParaRP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280B93A7-073E-D7BA-A68A-7B799912AC6F}"/>
              </a:ext>
            </a:extLst>
          </p:cNvPr>
          <p:cNvSpPr txBox="1">
            <a:spLocks/>
          </p:cNvSpPr>
          <p:nvPr/>
        </p:nvSpPr>
        <p:spPr>
          <a:xfrm>
            <a:off x="4955459" y="698178"/>
            <a:ext cx="4119715" cy="27340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04776" indent="-304776" algn="l" defTabSz="1219110" rtl="0" eaLnBrk="1" latinLnBrk="0" hangingPunct="1">
              <a:lnSpc>
                <a:spcPct val="90000"/>
              </a:lnSpc>
              <a:spcBef>
                <a:spcPts val="1333"/>
              </a:spcBef>
              <a:buClr>
                <a:srgbClr val="4E84C4"/>
              </a:buClr>
              <a:buFont typeface="Arial" panose="020B0604020202020204" pitchFamily="34" charset="0"/>
              <a:buChar char="•"/>
              <a:defRPr sz="2133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8019" indent="-304776" algn="l" defTabSz="1219110" rtl="0" eaLnBrk="1" latinLnBrk="0" hangingPunct="1">
              <a:lnSpc>
                <a:spcPct val="90000"/>
              </a:lnSpc>
              <a:spcBef>
                <a:spcPts val="667"/>
              </a:spcBef>
              <a:buClr>
                <a:srgbClr val="4E84C4"/>
              </a:buClr>
              <a:buFont typeface="Symbol" panose="05050102010706020507" pitchFamily="18" charset="2"/>
              <a:buChar char="-"/>
              <a:defRPr sz="2133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8565" indent="-304776" algn="l" defTabSz="1219110" rtl="0" eaLnBrk="1" latinLnBrk="0" hangingPunct="1">
              <a:lnSpc>
                <a:spcPct val="90000"/>
              </a:lnSpc>
              <a:spcBef>
                <a:spcPts val="667"/>
              </a:spcBef>
              <a:buClr>
                <a:srgbClr val="4E84C4"/>
              </a:buClr>
              <a:buFont typeface="Arial" panose="020B0604020202020204" pitchFamily="34" charset="0"/>
              <a:buChar char="•"/>
              <a:defRPr sz="2133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9110" indent="-304776" algn="l" defTabSz="1219110" rtl="0" eaLnBrk="1" latinLnBrk="0" hangingPunct="1">
              <a:lnSpc>
                <a:spcPct val="90000"/>
              </a:lnSpc>
              <a:spcBef>
                <a:spcPts val="667"/>
              </a:spcBef>
              <a:buClr>
                <a:srgbClr val="4E84C4"/>
              </a:buClr>
              <a:buFont typeface="Courier New" panose="02070309020205020404" pitchFamily="49" charset="0"/>
              <a:buChar char="o"/>
              <a:tabLst/>
              <a:defRPr sz="2133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19653" indent="-304776" algn="l" defTabSz="1219110" rtl="0" eaLnBrk="1" latinLnBrk="0" hangingPunct="1">
              <a:lnSpc>
                <a:spcPct val="90000"/>
              </a:lnSpc>
              <a:spcBef>
                <a:spcPts val="667"/>
              </a:spcBef>
              <a:buClr>
                <a:srgbClr val="4E84C4"/>
              </a:buClr>
              <a:buFont typeface="Arial" panose="020B0604020202020204" pitchFamily="34" charset="0"/>
              <a:buChar char="•"/>
              <a:defRPr sz="2133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548" indent="-304776" algn="l" defTabSz="121911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104" indent="-304776" algn="l" defTabSz="121911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658" indent="-304776" algn="l" defTabSz="121911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212" indent="-304776" algn="l" defTabSz="121911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1" dirty="0">
                <a:latin typeface="+mj-lt"/>
              </a:rPr>
              <a:t>### **2. Credit Card Fraud Prevention**</a:t>
            </a:r>
            <a:endParaRPr lang="en-US" sz="1000" dirty="0">
              <a:latin typeface="+mj-lt"/>
            </a:endParaRPr>
          </a:p>
          <a:p>
            <a:r>
              <a:rPr lang="en-US" sz="1000" b="1" dirty="0">
                <a:latin typeface="+mj-lt"/>
              </a:rPr>
              <a:t>**Scenario:**</a:t>
            </a:r>
            <a:r>
              <a:rPr lang="en-US" sz="1000" dirty="0">
                <a:latin typeface="+mj-lt"/>
              </a:rPr>
              <a:t> Credit card issuer facing rising card-not-present fraud</a:t>
            </a:r>
          </a:p>
          <a:p>
            <a:r>
              <a:rPr lang="en-US" sz="1000" dirty="0">
                <a:latin typeface="+mj-lt"/>
              </a:rPr>
              <a:t>- </a:t>
            </a:r>
            <a:r>
              <a:rPr lang="en-US" sz="1000" b="1" dirty="0">
                <a:latin typeface="+mj-lt"/>
              </a:rPr>
              <a:t>**Challenge:**</a:t>
            </a:r>
            <a:r>
              <a:rPr lang="en-US" sz="1000" dirty="0">
                <a:latin typeface="+mj-lt"/>
              </a:rPr>
              <a:t> Online shopping fraud increased 300% during pandemic</a:t>
            </a:r>
          </a:p>
          <a:p>
            <a:r>
              <a:rPr lang="en-US" sz="1000" dirty="0">
                <a:latin typeface="+mj-lt"/>
              </a:rPr>
              <a:t>- </a:t>
            </a:r>
            <a:r>
              <a:rPr lang="en-US" sz="1000" b="1" dirty="0">
                <a:latin typeface="+mj-lt"/>
              </a:rPr>
              <a:t>**Solution:**</a:t>
            </a:r>
            <a:r>
              <a:rPr lang="en-US" sz="1000" dirty="0">
                <a:latin typeface="+mj-lt"/>
              </a:rPr>
              <a:t> Detect unusual patterns (location, time, merchant type)</a:t>
            </a:r>
          </a:p>
          <a:p>
            <a:r>
              <a:rPr lang="en-US" sz="1000" dirty="0">
                <a:latin typeface="+mj-lt"/>
              </a:rPr>
              <a:t>- </a:t>
            </a:r>
            <a:r>
              <a:rPr lang="en-US" sz="1000" b="1" dirty="0">
                <a:latin typeface="+mj-lt"/>
              </a:rPr>
              <a:t>**Impact:**</a:t>
            </a:r>
            <a:endParaRPr lang="en-US" sz="1000" dirty="0">
              <a:latin typeface="+mj-lt"/>
            </a:endParaRPr>
          </a:p>
          <a:p>
            <a:r>
              <a:rPr lang="en-US" sz="1000" dirty="0">
                <a:latin typeface="+mj-lt"/>
              </a:rPr>
              <a:t>  - 95% fraud detection rate</a:t>
            </a:r>
          </a:p>
          <a:p>
            <a:r>
              <a:rPr lang="en-US" sz="1000" dirty="0">
                <a:latin typeface="+mj-lt"/>
              </a:rPr>
              <a:t>  - Customer friction reduced (fewer legitimate declines)</a:t>
            </a:r>
          </a:p>
          <a:p>
            <a:r>
              <a:rPr lang="en-US" sz="1000" dirty="0">
                <a:latin typeface="+mj-lt"/>
              </a:rPr>
              <a:t>  - Saved $25M in chargebacks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FA70032-C736-E4ED-5E1A-60B10C638C18}"/>
              </a:ext>
            </a:extLst>
          </p:cNvPr>
          <p:cNvSpPr txBox="1">
            <a:spLocks/>
          </p:cNvSpPr>
          <p:nvPr/>
        </p:nvSpPr>
        <p:spPr>
          <a:xfrm>
            <a:off x="348429" y="3428999"/>
            <a:ext cx="4607030" cy="2706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04776" indent="-304776" algn="l" defTabSz="1219110" rtl="0" eaLnBrk="1" latinLnBrk="0" hangingPunct="1">
              <a:lnSpc>
                <a:spcPct val="90000"/>
              </a:lnSpc>
              <a:spcBef>
                <a:spcPts val="1333"/>
              </a:spcBef>
              <a:buClr>
                <a:srgbClr val="4E84C4"/>
              </a:buClr>
              <a:buFont typeface="Arial" panose="020B0604020202020204" pitchFamily="34" charset="0"/>
              <a:buChar char="•"/>
              <a:defRPr sz="2133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18019" indent="-304776" algn="l" defTabSz="1219110" rtl="0" eaLnBrk="1" latinLnBrk="0" hangingPunct="1">
              <a:lnSpc>
                <a:spcPct val="90000"/>
              </a:lnSpc>
              <a:spcBef>
                <a:spcPts val="667"/>
              </a:spcBef>
              <a:buClr>
                <a:srgbClr val="4E84C4"/>
              </a:buClr>
              <a:buFont typeface="Symbol" panose="05050102010706020507" pitchFamily="18" charset="2"/>
              <a:buChar char="-"/>
              <a:defRPr sz="2133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8565" indent="-304776" algn="l" defTabSz="1219110" rtl="0" eaLnBrk="1" latinLnBrk="0" hangingPunct="1">
              <a:lnSpc>
                <a:spcPct val="90000"/>
              </a:lnSpc>
              <a:spcBef>
                <a:spcPts val="667"/>
              </a:spcBef>
              <a:buClr>
                <a:srgbClr val="4E84C4"/>
              </a:buClr>
              <a:buFont typeface="Arial" panose="020B0604020202020204" pitchFamily="34" charset="0"/>
              <a:buChar char="•"/>
              <a:defRPr sz="2133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219110" indent="-304776" algn="l" defTabSz="1219110" rtl="0" eaLnBrk="1" latinLnBrk="0" hangingPunct="1">
              <a:lnSpc>
                <a:spcPct val="90000"/>
              </a:lnSpc>
              <a:spcBef>
                <a:spcPts val="667"/>
              </a:spcBef>
              <a:buClr>
                <a:srgbClr val="4E84C4"/>
              </a:buClr>
              <a:buFont typeface="Courier New" panose="02070309020205020404" pitchFamily="49" charset="0"/>
              <a:buChar char="o"/>
              <a:tabLst/>
              <a:defRPr sz="2133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519653" indent="-304776" algn="l" defTabSz="1219110" rtl="0" eaLnBrk="1" latinLnBrk="0" hangingPunct="1">
              <a:lnSpc>
                <a:spcPct val="90000"/>
              </a:lnSpc>
              <a:spcBef>
                <a:spcPts val="667"/>
              </a:spcBef>
              <a:buClr>
                <a:srgbClr val="4E84C4"/>
              </a:buClr>
              <a:buFont typeface="Arial" panose="020B0604020202020204" pitchFamily="34" charset="0"/>
              <a:buChar char="•"/>
              <a:defRPr sz="2133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3352548" indent="-304776" algn="l" defTabSz="121911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3962104" indent="-304776" algn="l" defTabSz="121911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4571658" indent="-304776" algn="l" defTabSz="121911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5181212" indent="-304776" algn="l" defTabSz="121911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1" dirty="0">
                <a:latin typeface="+mj-lt"/>
              </a:rPr>
              <a:t>### **3. Anti-Money Laundering (AML) Compliance**</a:t>
            </a:r>
            <a:endParaRPr lang="en-US" sz="1000" dirty="0">
              <a:latin typeface="+mj-lt"/>
            </a:endParaRPr>
          </a:p>
          <a:p>
            <a:r>
              <a:rPr lang="en-US" sz="1000" b="1" dirty="0">
                <a:latin typeface="+mj-lt"/>
              </a:rPr>
              <a:t>**Scenario:**</a:t>
            </a:r>
            <a:r>
              <a:rPr lang="en-US" sz="1000" dirty="0">
                <a:latin typeface="+mj-lt"/>
              </a:rPr>
              <a:t> Financial institution must comply with BSA/AML regulations</a:t>
            </a:r>
          </a:p>
          <a:p>
            <a:r>
              <a:rPr lang="en-US" sz="1000" dirty="0">
                <a:latin typeface="+mj-lt"/>
              </a:rPr>
              <a:t>- </a:t>
            </a:r>
            <a:r>
              <a:rPr lang="en-US" sz="1000" b="1" dirty="0">
                <a:latin typeface="+mj-lt"/>
              </a:rPr>
              <a:t>**Challenge:**</a:t>
            </a:r>
            <a:r>
              <a:rPr lang="en-US" sz="1000" dirty="0">
                <a:latin typeface="+mj-lt"/>
              </a:rPr>
              <a:t> Manual SAR filing takes 8+ hours per case</a:t>
            </a:r>
          </a:p>
          <a:p>
            <a:r>
              <a:rPr lang="en-US" sz="1000" dirty="0">
                <a:latin typeface="+mj-lt"/>
              </a:rPr>
              <a:t>- </a:t>
            </a:r>
            <a:r>
              <a:rPr lang="en-US" sz="1000" b="1" dirty="0">
                <a:latin typeface="+mj-lt"/>
              </a:rPr>
              <a:t>**Solution:**</a:t>
            </a:r>
            <a:r>
              <a:rPr lang="en-US" sz="1000" dirty="0">
                <a:latin typeface="+mj-lt"/>
              </a:rPr>
              <a:t> Automated velocity checks, risk scoring, and explanation generation</a:t>
            </a:r>
          </a:p>
          <a:p>
            <a:r>
              <a:rPr lang="en-US" sz="1000" dirty="0">
                <a:latin typeface="+mj-lt"/>
              </a:rPr>
              <a:t>- </a:t>
            </a:r>
            <a:r>
              <a:rPr lang="en-US" sz="1000" b="1" dirty="0">
                <a:latin typeface="+mj-lt"/>
              </a:rPr>
              <a:t>**Impact:**</a:t>
            </a:r>
            <a:endParaRPr lang="en-US" sz="1000" dirty="0">
              <a:latin typeface="+mj-lt"/>
            </a:endParaRPr>
          </a:p>
          <a:p>
            <a:r>
              <a:rPr lang="en-US" sz="1000" dirty="0">
                <a:latin typeface="+mj-lt"/>
              </a:rPr>
              <a:t>  - Reduced SAR investigation time by 75%</a:t>
            </a:r>
          </a:p>
          <a:p>
            <a:r>
              <a:rPr lang="en-US" sz="1000" dirty="0">
                <a:latin typeface="+mj-lt"/>
              </a:rPr>
              <a:t>  - Improved regulatory compliance</a:t>
            </a:r>
          </a:p>
          <a:p>
            <a:r>
              <a:rPr lang="en-US" sz="1000" dirty="0">
                <a:latin typeface="+mj-lt"/>
              </a:rPr>
              <a:t>  - Automated audit trail for examiners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B6A3C06A-4046-E3B2-4E26-8E26B9AD4BAA}"/>
              </a:ext>
            </a:extLst>
          </p:cNvPr>
          <p:cNvSpPr txBox="1">
            <a:spLocks/>
          </p:cNvSpPr>
          <p:nvPr/>
        </p:nvSpPr>
        <p:spPr>
          <a:xfrm>
            <a:off x="4955459" y="3428999"/>
            <a:ext cx="4119715" cy="2706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04776" indent="-304776" algn="l" defTabSz="1219110" rtl="0" eaLnBrk="1" latinLnBrk="0" hangingPunct="1">
              <a:lnSpc>
                <a:spcPct val="90000"/>
              </a:lnSpc>
              <a:spcBef>
                <a:spcPts val="1333"/>
              </a:spcBef>
              <a:buClr>
                <a:srgbClr val="4E84C4"/>
              </a:buClr>
              <a:buFont typeface="Arial" panose="020B0604020202020204" pitchFamily="34" charset="0"/>
              <a:buChar char="•"/>
              <a:defRPr sz="2133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18019" indent="-304776" algn="l" defTabSz="1219110" rtl="0" eaLnBrk="1" latinLnBrk="0" hangingPunct="1">
              <a:lnSpc>
                <a:spcPct val="90000"/>
              </a:lnSpc>
              <a:spcBef>
                <a:spcPts val="667"/>
              </a:spcBef>
              <a:buClr>
                <a:srgbClr val="4E84C4"/>
              </a:buClr>
              <a:buFont typeface="Symbol" panose="05050102010706020507" pitchFamily="18" charset="2"/>
              <a:buChar char="-"/>
              <a:defRPr sz="2133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8565" indent="-304776" algn="l" defTabSz="1219110" rtl="0" eaLnBrk="1" latinLnBrk="0" hangingPunct="1">
              <a:lnSpc>
                <a:spcPct val="90000"/>
              </a:lnSpc>
              <a:spcBef>
                <a:spcPts val="667"/>
              </a:spcBef>
              <a:buClr>
                <a:srgbClr val="4E84C4"/>
              </a:buClr>
              <a:buFont typeface="Arial" panose="020B0604020202020204" pitchFamily="34" charset="0"/>
              <a:buChar char="•"/>
              <a:defRPr sz="2133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219110" indent="-304776" algn="l" defTabSz="1219110" rtl="0" eaLnBrk="1" latinLnBrk="0" hangingPunct="1">
              <a:lnSpc>
                <a:spcPct val="90000"/>
              </a:lnSpc>
              <a:spcBef>
                <a:spcPts val="667"/>
              </a:spcBef>
              <a:buClr>
                <a:srgbClr val="4E84C4"/>
              </a:buClr>
              <a:buFont typeface="Courier New" panose="02070309020205020404" pitchFamily="49" charset="0"/>
              <a:buChar char="o"/>
              <a:tabLst/>
              <a:defRPr sz="2133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519653" indent="-304776" algn="l" defTabSz="1219110" rtl="0" eaLnBrk="1" latinLnBrk="0" hangingPunct="1">
              <a:lnSpc>
                <a:spcPct val="90000"/>
              </a:lnSpc>
              <a:spcBef>
                <a:spcPts val="667"/>
              </a:spcBef>
              <a:buClr>
                <a:srgbClr val="4E84C4"/>
              </a:buClr>
              <a:buFont typeface="Arial" panose="020B0604020202020204" pitchFamily="34" charset="0"/>
              <a:buChar char="•"/>
              <a:defRPr sz="2133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3352548" indent="-304776" algn="l" defTabSz="121911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3962104" indent="-304776" algn="l" defTabSz="121911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4571658" indent="-304776" algn="l" defTabSz="121911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5181212" indent="-304776" algn="l" defTabSz="121911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1" dirty="0"/>
              <a:t>### **4. Wire Transfer Fraud Detection**</a:t>
            </a:r>
            <a:endParaRPr lang="en-US" sz="1000" dirty="0"/>
          </a:p>
          <a:p>
            <a:r>
              <a:rPr lang="en-US" sz="1000" b="1" dirty="0"/>
              <a:t>**Scenario:**</a:t>
            </a:r>
            <a:r>
              <a:rPr lang="en-US" sz="1000" dirty="0"/>
              <a:t> Corporate bank handling international wire transfers</a:t>
            </a:r>
          </a:p>
          <a:p>
            <a:r>
              <a:rPr lang="en-US" sz="1000" dirty="0"/>
              <a:t>- </a:t>
            </a:r>
            <a:r>
              <a:rPr lang="en-US" sz="1000" b="1" dirty="0"/>
              <a:t>**Challenge:**</a:t>
            </a:r>
            <a:r>
              <a:rPr lang="en-US" sz="1000" dirty="0"/>
              <a:t> Sophisticated scams target high-value transfers</a:t>
            </a:r>
          </a:p>
          <a:p>
            <a:r>
              <a:rPr lang="en-US" sz="1000" dirty="0"/>
              <a:t>- </a:t>
            </a:r>
            <a:r>
              <a:rPr lang="en-US" sz="1000" b="1" dirty="0"/>
              <a:t>**Solution:**</a:t>
            </a:r>
            <a:r>
              <a:rPr lang="en-US" sz="1000" dirty="0"/>
              <a:t> Flag large, unusual, international, or crypto-related transfers</a:t>
            </a:r>
          </a:p>
          <a:p>
            <a:r>
              <a:rPr lang="en-US" sz="1000" dirty="0"/>
              <a:t>- </a:t>
            </a:r>
            <a:r>
              <a:rPr lang="en-US" sz="1000" b="1" dirty="0"/>
              <a:t>**Impact:**</a:t>
            </a:r>
            <a:endParaRPr lang="en-US" sz="1000" dirty="0"/>
          </a:p>
          <a:p>
            <a:r>
              <a:rPr lang="en-US" sz="1000" dirty="0"/>
              <a:t>  - Stopped $100M+ in fraudulent wires</a:t>
            </a:r>
          </a:p>
          <a:p>
            <a:r>
              <a:rPr lang="en-US" sz="1000" dirty="0"/>
              <a:t>  - Immediate alerts to relationship managers</a:t>
            </a:r>
          </a:p>
          <a:p>
            <a:r>
              <a:rPr lang="en-US" sz="1000" dirty="0"/>
              <a:t>  - Documented decisions for compliance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9083661E-695D-AB8B-A757-04086251BDE1}"/>
              </a:ext>
            </a:extLst>
          </p:cNvPr>
          <p:cNvSpPr txBox="1">
            <a:spLocks/>
          </p:cNvSpPr>
          <p:nvPr/>
        </p:nvSpPr>
        <p:spPr>
          <a:xfrm>
            <a:off x="9075175" y="691298"/>
            <a:ext cx="3028336" cy="54440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04776" indent="-304776" algn="l" defTabSz="1219110" rtl="0" eaLnBrk="1" latinLnBrk="0" hangingPunct="1">
              <a:lnSpc>
                <a:spcPct val="90000"/>
              </a:lnSpc>
              <a:spcBef>
                <a:spcPts val="1333"/>
              </a:spcBef>
              <a:buClr>
                <a:srgbClr val="4E84C4"/>
              </a:buClr>
              <a:buFont typeface="Arial" panose="020B0604020202020204" pitchFamily="34" charset="0"/>
              <a:buChar char="•"/>
              <a:defRPr sz="2133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8019" indent="-304776" algn="l" defTabSz="1219110" rtl="0" eaLnBrk="1" latinLnBrk="0" hangingPunct="1">
              <a:lnSpc>
                <a:spcPct val="90000"/>
              </a:lnSpc>
              <a:spcBef>
                <a:spcPts val="667"/>
              </a:spcBef>
              <a:buClr>
                <a:srgbClr val="4E84C4"/>
              </a:buClr>
              <a:buFont typeface="Symbol" panose="05050102010706020507" pitchFamily="18" charset="2"/>
              <a:buChar char="-"/>
              <a:defRPr sz="2133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8565" indent="-304776" algn="l" defTabSz="1219110" rtl="0" eaLnBrk="1" latinLnBrk="0" hangingPunct="1">
              <a:lnSpc>
                <a:spcPct val="90000"/>
              </a:lnSpc>
              <a:spcBef>
                <a:spcPts val="667"/>
              </a:spcBef>
              <a:buClr>
                <a:srgbClr val="4E84C4"/>
              </a:buClr>
              <a:buFont typeface="Arial" panose="020B0604020202020204" pitchFamily="34" charset="0"/>
              <a:buChar char="•"/>
              <a:defRPr sz="2133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9110" indent="-304776" algn="l" defTabSz="1219110" rtl="0" eaLnBrk="1" latinLnBrk="0" hangingPunct="1">
              <a:lnSpc>
                <a:spcPct val="90000"/>
              </a:lnSpc>
              <a:spcBef>
                <a:spcPts val="667"/>
              </a:spcBef>
              <a:buClr>
                <a:srgbClr val="4E84C4"/>
              </a:buClr>
              <a:buFont typeface="Courier New" panose="02070309020205020404" pitchFamily="49" charset="0"/>
              <a:buChar char="o"/>
              <a:tabLst/>
              <a:defRPr sz="2133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19653" indent="-304776" algn="l" defTabSz="1219110" rtl="0" eaLnBrk="1" latinLnBrk="0" hangingPunct="1">
              <a:lnSpc>
                <a:spcPct val="90000"/>
              </a:lnSpc>
              <a:spcBef>
                <a:spcPts val="667"/>
              </a:spcBef>
              <a:buClr>
                <a:srgbClr val="4E84C4"/>
              </a:buClr>
              <a:buFont typeface="Arial" panose="020B0604020202020204" pitchFamily="34" charset="0"/>
              <a:buChar char="•"/>
              <a:defRPr sz="2133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548" indent="-304776" algn="l" defTabSz="121911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104" indent="-304776" algn="l" defTabSz="121911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658" indent="-304776" algn="l" defTabSz="121911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212" indent="-304776" algn="l" defTabSz="121911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1" dirty="0"/>
              <a:t>### **5. Account Takeover Prevention**</a:t>
            </a:r>
            <a:endParaRPr lang="en-US" sz="1000" dirty="0"/>
          </a:p>
          <a:p>
            <a:r>
              <a:rPr lang="en-US" sz="1000" b="1" dirty="0"/>
              <a:t>**Scenario:**</a:t>
            </a:r>
            <a:r>
              <a:rPr lang="en-US" sz="1000" dirty="0"/>
              <a:t> Digital bank experiencing credential stuffing attacks</a:t>
            </a:r>
          </a:p>
          <a:p>
            <a:r>
              <a:rPr lang="en-US" sz="1000" dirty="0"/>
              <a:t>- </a:t>
            </a:r>
            <a:r>
              <a:rPr lang="en-US" sz="1000" b="1" dirty="0"/>
              <a:t>**Challenge:**</a:t>
            </a:r>
            <a:r>
              <a:rPr lang="en-US" sz="1000" dirty="0"/>
              <a:t> Stolen credentials used to drain accounts</a:t>
            </a:r>
          </a:p>
          <a:p>
            <a:r>
              <a:rPr lang="en-US" sz="1000" dirty="0"/>
              <a:t>- </a:t>
            </a:r>
            <a:r>
              <a:rPr lang="en-US" sz="1000" b="1" dirty="0"/>
              <a:t>**Solution:**</a:t>
            </a:r>
            <a:r>
              <a:rPr lang="en-US" sz="1000" dirty="0"/>
              <a:t> Detect unusual transaction patterns after login</a:t>
            </a:r>
          </a:p>
          <a:p>
            <a:r>
              <a:rPr lang="en-US" sz="1000" dirty="0"/>
              <a:t>- </a:t>
            </a:r>
            <a:r>
              <a:rPr lang="en-US" sz="1000" b="1" dirty="0"/>
              <a:t>**Impact:**</a:t>
            </a:r>
            <a:endParaRPr lang="en-US" sz="1000" dirty="0"/>
          </a:p>
          <a:p>
            <a:r>
              <a:rPr lang="en-US" sz="1000" dirty="0"/>
              <a:t>  - 98% detection of account takeover attempts</a:t>
            </a:r>
          </a:p>
          <a:p>
            <a:r>
              <a:rPr lang="en-US" sz="1000" dirty="0"/>
              <a:t>  - Protected customer funds</a:t>
            </a:r>
          </a:p>
          <a:p>
            <a:r>
              <a:rPr lang="en-US" sz="1000" dirty="0"/>
              <a:t>  - Preserved brand reputation</a:t>
            </a:r>
          </a:p>
          <a:p>
            <a:r>
              <a:rPr lang="en-US" sz="1000" b="1" dirty="0"/>
              <a:t>### **6. Merchant Risk Assessment**</a:t>
            </a:r>
            <a:endParaRPr lang="en-US" sz="1000" dirty="0"/>
          </a:p>
          <a:p>
            <a:r>
              <a:rPr lang="en-US" sz="1000" b="1" dirty="0"/>
              <a:t>**Scenario:**</a:t>
            </a:r>
            <a:r>
              <a:rPr lang="en-US" sz="1000" dirty="0"/>
              <a:t> Payment processor evaluating merchant applications</a:t>
            </a:r>
          </a:p>
          <a:p>
            <a:r>
              <a:rPr lang="en-US" sz="1000" dirty="0"/>
              <a:t>- </a:t>
            </a:r>
            <a:r>
              <a:rPr lang="en-US" sz="1000" b="1" dirty="0"/>
              <a:t>**Challenge:**</a:t>
            </a:r>
            <a:r>
              <a:rPr lang="en-US" sz="1000" dirty="0"/>
              <a:t> Identify high-risk merchants before onboarding</a:t>
            </a:r>
          </a:p>
          <a:p>
            <a:r>
              <a:rPr lang="en-US" sz="1000" dirty="0"/>
              <a:t>- </a:t>
            </a:r>
            <a:r>
              <a:rPr lang="en-US" sz="1000" b="1" dirty="0"/>
              <a:t>**Solution:**</a:t>
            </a:r>
            <a:r>
              <a:rPr lang="en-US" sz="1000" dirty="0"/>
              <a:t> Analyze historical patterns of similar merchants</a:t>
            </a:r>
          </a:p>
          <a:p>
            <a:r>
              <a:rPr lang="en-US" sz="1000" dirty="0"/>
              <a:t>- </a:t>
            </a:r>
            <a:r>
              <a:rPr lang="en-US" sz="1000" b="1" dirty="0"/>
              <a:t>**Impact:**</a:t>
            </a:r>
            <a:endParaRPr lang="en-US" sz="1000" dirty="0"/>
          </a:p>
          <a:p>
            <a:r>
              <a:rPr lang="en-US" sz="1000" dirty="0"/>
              <a:t>  - Reduced merchant fraud by 40%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000" dirty="0"/>
              <a:t>  - Decreased chargeback rates</a:t>
            </a:r>
          </a:p>
          <a:p>
            <a:r>
              <a:rPr lang="en-US" sz="1000" dirty="0"/>
              <a:t>  - Faster merchant approval process</a:t>
            </a:r>
          </a:p>
        </p:txBody>
      </p:sp>
    </p:spTree>
    <p:extLst>
      <p:ext uri="{BB962C8B-B14F-4D97-AF65-F5344CB8AC3E}">
        <p14:creationId xmlns:p14="http://schemas.microsoft.com/office/powerpoint/2010/main" val="2356228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75A58-300D-FB29-22AA-B292B7599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810C9-54D9-F3A1-EE83-BA5EEBADF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b="1" dirty="0"/>
              <a:t>Logical Flow Chart</a:t>
            </a:r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6CCA4AB-6649-F67E-6FA5-317FC586A656}"/>
              </a:ext>
            </a:extLst>
          </p:cNvPr>
          <p:cNvSpPr/>
          <p:nvPr/>
        </p:nvSpPr>
        <p:spPr>
          <a:xfrm>
            <a:off x="530942" y="1307690"/>
            <a:ext cx="2202426" cy="73736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Data Sources</a:t>
            </a:r>
          </a:p>
          <a:p>
            <a:pPr algn="ctr"/>
            <a:r>
              <a:rPr lang="en-US" sz="1000" dirty="0"/>
              <a:t>(Core Banking, Cards, UPI ,  Payments API)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FC4150F-174E-3B2B-0821-951E27719F6A}"/>
              </a:ext>
            </a:extLst>
          </p:cNvPr>
          <p:cNvSpPr/>
          <p:nvPr/>
        </p:nvSpPr>
        <p:spPr>
          <a:xfrm>
            <a:off x="3787256" y="1199536"/>
            <a:ext cx="2487560" cy="943896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Ingestion &amp; Preprocessing </a:t>
            </a:r>
          </a:p>
          <a:p>
            <a:pPr algn="ctr"/>
            <a:r>
              <a:rPr lang="en-US" sz="1000" dirty="0"/>
              <a:t>(JSON Validation , Feature Normalization,  </a:t>
            </a:r>
          </a:p>
          <a:p>
            <a:pPr algn="ctr"/>
            <a:r>
              <a:rPr lang="en-US" sz="1000" dirty="0"/>
              <a:t>Text Preparation)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024B85E-8844-44C1-AAFE-F3CF2FCC8A7E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 flipV="1">
            <a:off x="2733368" y="1671484"/>
            <a:ext cx="1053888" cy="48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32EB04E-AFE5-F279-656A-6F8004DE1F1A}"/>
              </a:ext>
            </a:extLst>
          </p:cNvPr>
          <p:cNvSpPr/>
          <p:nvPr/>
        </p:nvSpPr>
        <p:spPr>
          <a:xfrm>
            <a:off x="7328704" y="1154087"/>
            <a:ext cx="3706763" cy="1073070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Feature Engineering</a:t>
            </a:r>
          </a:p>
          <a:p>
            <a:pPr algn="ctr"/>
            <a:r>
              <a:rPr lang="en-US" sz="1000" dirty="0"/>
              <a:t>(Banking features (amount, time, velocity, category) identification,</a:t>
            </a:r>
          </a:p>
          <a:p>
            <a:pPr algn="ctr"/>
            <a:r>
              <a:rPr lang="en-US" sz="1000" dirty="0"/>
              <a:t>Feature and Data set Embeddings – Sentence Transformer (MiniLM-L6-v2),</a:t>
            </a:r>
          </a:p>
          <a:p>
            <a:pPr algn="ctr"/>
            <a:r>
              <a:rPr lang="en-US" sz="1000" dirty="0"/>
              <a:t>Combined feature vector (384 + feature 37 =421 dimensions) )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5D9282F-96A9-E3BD-EC23-44EF9F73FB9D}"/>
              </a:ext>
            </a:extLst>
          </p:cNvPr>
          <p:cNvSpPr/>
          <p:nvPr/>
        </p:nvSpPr>
        <p:spPr>
          <a:xfrm>
            <a:off x="7328702" y="2403752"/>
            <a:ext cx="3706762" cy="1179871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Anomaly Detection (Unsupervised Ensemble)</a:t>
            </a:r>
          </a:p>
          <a:p>
            <a:pPr algn="ctr"/>
            <a:r>
              <a:rPr lang="en-US" sz="1000" dirty="0"/>
              <a:t>Isolation Forest</a:t>
            </a:r>
          </a:p>
          <a:p>
            <a:pPr algn="ctr"/>
            <a:r>
              <a:rPr lang="en-US" sz="1000" dirty="0"/>
              <a:t>Local Outlier Factor (LOF)</a:t>
            </a:r>
          </a:p>
          <a:p>
            <a:pPr algn="ctr"/>
            <a:r>
              <a:rPr lang="en-US" sz="1000" dirty="0"/>
              <a:t>One-Class SVM</a:t>
            </a:r>
          </a:p>
          <a:p>
            <a:pPr algn="ctr"/>
            <a:r>
              <a:rPr lang="en-US" sz="1000" dirty="0" err="1"/>
              <a:t>Mahalanobis</a:t>
            </a:r>
            <a:r>
              <a:rPr lang="en-US" sz="1000" dirty="0"/>
              <a:t> Distance</a:t>
            </a:r>
          </a:p>
          <a:p>
            <a:pPr algn="ctr"/>
            <a:r>
              <a:rPr lang="en-US" sz="1000" dirty="0"/>
              <a:t>Ensemble risk score (average)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1B75666-2BEF-85BC-BC07-5491671DF14D}"/>
              </a:ext>
            </a:extLst>
          </p:cNvPr>
          <p:cNvSpPr/>
          <p:nvPr/>
        </p:nvSpPr>
        <p:spPr>
          <a:xfrm>
            <a:off x="3787255" y="2299510"/>
            <a:ext cx="2487560" cy="1119710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Risk Decision Layer</a:t>
            </a:r>
          </a:p>
          <a:p>
            <a:pPr algn="ctr"/>
            <a:r>
              <a:rPr lang="en-US" sz="1000" dirty="0"/>
              <a:t>Threshold check (default ≥ 0.70)</a:t>
            </a:r>
          </a:p>
          <a:p>
            <a:pPr algn="ctr"/>
            <a:r>
              <a:rPr lang="en-US" sz="1000" dirty="0"/>
              <a:t>Risk levels: Low | Medium | High | Critical</a:t>
            </a:r>
          </a:p>
          <a:p>
            <a:pPr algn="ctr"/>
            <a:r>
              <a:rPr lang="en-US" sz="1000" dirty="0"/>
              <a:t>Fraud vs Legit classification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F58D032-B66E-4B0A-3087-CF24C14F18C9}"/>
              </a:ext>
            </a:extLst>
          </p:cNvPr>
          <p:cNvSpPr/>
          <p:nvPr/>
        </p:nvSpPr>
        <p:spPr>
          <a:xfrm>
            <a:off x="530942" y="3682786"/>
            <a:ext cx="2717688" cy="1149790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Explanation Layer</a:t>
            </a:r>
          </a:p>
          <a:p>
            <a:pPr algn="ctr"/>
            <a:r>
              <a:rPr lang="en-US" sz="1000" dirty="0"/>
              <a:t>Azure OpenAI (OAuth2 + GPT-4) for AI-based explanation</a:t>
            </a:r>
          </a:p>
          <a:p>
            <a:pPr algn="ctr"/>
            <a:r>
              <a:rPr lang="en-US" sz="1000" dirty="0"/>
              <a:t>Fallback to rule / template-based explanation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E5A2E3E-B40D-1A5A-4592-CE809F78F095}"/>
              </a:ext>
            </a:extLst>
          </p:cNvPr>
          <p:cNvSpPr/>
          <p:nvPr/>
        </p:nvSpPr>
        <p:spPr>
          <a:xfrm>
            <a:off x="3787255" y="3855334"/>
            <a:ext cx="2477730" cy="82343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Outputs &amp; Consumers</a:t>
            </a:r>
          </a:p>
          <a:p>
            <a:pPr algn="ctr"/>
            <a:r>
              <a:rPr lang="en-US" sz="1000" dirty="0"/>
              <a:t>Fraud decision API</a:t>
            </a:r>
          </a:p>
          <a:p>
            <a:pPr algn="ctr"/>
            <a:r>
              <a:rPr lang="en-US" sz="1000" dirty="0"/>
              <a:t>Analyst dashboard</a:t>
            </a:r>
          </a:p>
          <a:p>
            <a:pPr algn="ctr"/>
            <a:r>
              <a:rPr lang="en-US" sz="1000" dirty="0"/>
              <a:t>Alerts &amp; case management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14D08B8-5C87-201D-8CE0-1423F6F9D694}"/>
              </a:ext>
            </a:extLst>
          </p:cNvPr>
          <p:cNvCxnSpPr>
            <a:cxnSpLocks/>
            <a:stCxn id="7" idx="3"/>
            <a:endCxn id="10" idx="1"/>
          </p:cNvCxnSpPr>
          <p:nvPr/>
        </p:nvCxnSpPr>
        <p:spPr>
          <a:xfrm>
            <a:off x="6274816" y="1671484"/>
            <a:ext cx="1053888" cy="191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1E1AF7C-AF9C-D20A-92DE-E0D6C201968C}"/>
              </a:ext>
            </a:extLst>
          </p:cNvPr>
          <p:cNvCxnSpPr>
            <a:cxnSpLocks/>
          </p:cNvCxnSpPr>
          <p:nvPr/>
        </p:nvCxnSpPr>
        <p:spPr>
          <a:xfrm>
            <a:off x="1523993" y="3316417"/>
            <a:ext cx="0" cy="3663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E752D525-D85F-B270-1DB7-E86AE6CE1D8E}"/>
              </a:ext>
            </a:extLst>
          </p:cNvPr>
          <p:cNvCxnSpPr>
            <a:cxnSpLocks/>
            <a:stCxn id="10" idx="2"/>
            <a:endCxn id="13" idx="0"/>
          </p:cNvCxnSpPr>
          <p:nvPr/>
        </p:nvCxnSpPr>
        <p:spPr>
          <a:xfrm flipH="1">
            <a:off x="9182083" y="2227157"/>
            <a:ext cx="3" cy="1765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8A1BE871-FA3D-57B6-659C-E2C74C6B038B}"/>
              </a:ext>
            </a:extLst>
          </p:cNvPr>
          <p:cNvCxnSpPr>
            <a:cxnSpLocks/>
          </p:cNvCxnSpPr>
          <p:nvPr/>
        </p:nvCxnSpPr>
        <p:spPr>
          <a:xfrm flipH="1">
            <a:off x="6274815" y="2819751"/>
            <a:ext cx="1053887" cy="68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E515AE3D-CD7C-2AF5-73B4-35B5E868E1F5}"/>
              </a:ext>
            </a:extLst>
          </p:cNvPr>
          <p:cNvCxnSpPr>
            <a:cxnSpLocks/>
            <a:stCxn id="14" idx="1"/>
            <a:endCxn id="116" idx="3"/>
          </p:cNvCxnSpPr>
          <p:nvPr/>
        </p:nvCxnSpPr>
        <p:spPr>
          <a:xfrm flipH="1" flipV="1">
            <a:off x="2517045" y="2854601"/>
            <a:ext cx="1270210" cy="47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E78CD187-19C4-8330-D7CA-9FF6229F68CF}"/>
              </a:ext>
            </a:extLst>
          </p:cNvPr>
          <p:cNvSpPr txBox="1"/>
          <p:nvPr/>
        </p:nvSpPr>
        <p:spPr>
          <a:xfrm>
            <a:off x="6430298" y="3624793"/>
            <a:ext cx="5761702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Features &amp; PBIs 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Data Set Identification/Creation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Data Loading/ Clean up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Feature Engineering / Embedding generation for Actual and Feature 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Anomaly Detection and Training Model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Risk Decision Layer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Explanation(Generate manual output or integrate with Open AI for synthesization)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Model Performance &amp; Summary( Evaluate model performance with ground truth labels and view statistics)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Generate Alert/testing Manually</a:t>
            </a:r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</p:txBody>
      </p:sp>
      <p:sp>
        <p:nvSpPr>
          <p:cNvPr id="116" name="Rectangle: Rounded Corners 115">
            <a:extLst>
              <a:ext uri="{FF2B5EF4-FFF2-40B4-BE49-F238E27FC236}">
                <a16:creationId xmlns:a16="http://schemas.microsoft.com/office/drawing/2014/main" id="{09DE432B-B43A-C49E-7A34-A58E3DECD099}"/>
              </a:ext>
            </a:extLst>
          </p:cNvPr>
          <p:cNvSpPr/>
          <p:nvPr/>
        </p:nvSpPr>
        <p:spPr>
          <a:xfrm>
            <a:off x="530942" y="2403752"/>
            <a:ext cx="1986103" cy="901698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Model Performance &amp; Summary</a:t>
            </a:r>
          </a:p>
        </p:txBody>
      </p: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9233A8A2-A0C9-5000-0C2E-B70D289CEC88}"/>
              </a:ext>
            </a:extLst>
          </p:cNvPr>
          <p:cNvCxnSpPr>
            <a:cxnSpLocks/>
            <a:stCxn id="15" idx="3"/>
            <a:endCxn id="16" idx="1"/>
          </p:cNvCxnSpPr>
          <p:nvPr/>
        </p:nvCxnSpPr>
        <p:spPr>
          <a:xfrm>
            <a:off x="3248630" y="4257681"/>
            <a:ext cx="538625" cy="93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3731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25BAEB4-547D-7D37-854D-1651F1040E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732" y="512575"/>
            <a:ext cx="10591463" cy="56671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B92C438-BCF6-3757-AF80-2B2228517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Architecture Diagram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FEF8F0-5CF9-B90A-B922-88BC18781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TCS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EC8F9-44CB-124E-3925-5A0C7C8BD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4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87454F-151E-80F9-BDD0-5811860785E7}"/>
              </a:ext>
            </a:extLst>
          </p:cNvPr>
          <p:cNvSpPr txBox="1"/>
          <p:nvPr/>
        </p:nvSpPr>
        <p:spPr>
          <a:xfrm>
            <a:off x="8288594" y="5220929"/>
            <a:ext cx="25918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Note</a:t>
            </a:r>
            <a:r>
              <a:rPr lang="en-US" sz="1200" dirty="0"/>
              <a:t>: Llama Model is also Integrated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3313889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57115-95A2-5BDF-82EE-7A1B793B9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27836-F981-49BD-3DF2-1A191A7DD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b="1" dirty="0"/>
              <a:t>Industry-Specific 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343F8-C1A9-E2E3-6AA6-3D54359AD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323" y="1135772"/>
            <a:ext cx="5484716" cy="3918009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Autofit/>
          </a:bodyPr>
          <a:lstStyle/>
          <a:p>
            <a:r>
              <a:rPr lang="en-US" sz="1000" b="1" dirty="0"/>
              <a:t>### **For Banks &amp; Credit Unions:**</a:t>
            </a:r>
            <a:endParaRPr lang="en-US" sz="1000" dirty="0"/>
          </a:p>
          <a:p>
            <a:r>
              <a:rPr lang="en-US" sz="1000" dirty="0"/>
              <a:t>✅ </a:t>
            </a:r>
            <a:r>
              <a:rPr lang="en-US" sz="1000" b="1" dirty="0"/>
              <a:t>**Regulatory Compliance**</a:t>
            </a:r>
            <a:r>
              <a:rPr lang="en-US" sz="1000" dirty="0"/>
              <a:t> - BSA/AML/FinCEN requirements met automatically</a:t>
            </a:r>
          </a:p>
          <a:p>
            <a:r>
              <a:rPr lang="en-US" sz="1000" dirty="0"/>
              <a:t>✅ </a:t>
            </a:r>
            <a:r>
              <a:rPr lang="en-US" sz="1000" b="1" dirty="0"/>
              <a:t>**Cost Reduction**</a:t>
            </a:r>
            <a:r>
              <a:rPr lang="en-US" sz="1000" dirty="0"/>
              <a:t> - Fewer fraud losses, reduced investigation costs</a:t>
            </a:r>
          </a:p>
          <a:p>
            <a:r>
              <a:rPr lang="en-US" sz="1000" dirty="0"/>
              <a:t>✅ </a:t>
            </a:r>
            <a:r>
              <a:rPr lang="en-US" sz="1000" b="1" dirty="0"/>
              <a:t>**Customer Trust**</a:t>
            </a:r>
            <a:r>
              <a:rPr lang="en-US" sz="1000" dirty="0"/>
              <a:t> - Protect customer funds, minimize false declines</a:t>
            </a:r>
          </a:p>
          <a:p>
            <a:r>
              <a:rPr lang="en-US" sz="1000" dirty="0"/>
              <a:t>✅ </a:t>
            </a:r>
            <a:r>
              <a:rPr lang="en-US" sz="1000" b="1" dirty="0"/>
              <a:t>**Audit Trail**</a:t>
            </a:r>
            <a:r>
              <a:rPr lang="en-US" sz="1000" dirty="0"/>
              <a:t> - Complete documentation for regulators</a:t>
            </a:r>
            <a:br>
              <a:rPr lang="en-US" sz="1000" dirty="0"/>
            </a:br>
            <a:endParaRPr lang="en-US" sz="1000" dirty="0"/>
          </a:p>
          <a:p>
            <a:r>
              <a:rPr lang="en-US" sz="1000" b="1" dirty="0"/>
              <a:t>### **For Payment Processors:**</a:t>
            </a:r>
            <a:endParaRPr lang="en-US" sz="1000" dirty="0"/>
          </a:p>
          <a:p>
            <a:r>
              <a:rPr lang="en-US" sz="1000" dirty="0"/>
              <a:t>✅ </a:t>
            </a:r>
            <a:r>
              <a:rPr lang="en-US" sz="1000" b="1" dirty="0"/>
              <a:t>**Chargeback Prevention**</a:t>
            </a:r>
            <a:r>
              <a:rPr lang="en-US" sz="1000" dirty="0"/>
              <a:t> - Stop fraud before payment settles</a:t>
            </a:r>
          </a:p>
          <a:p>
            <a:r>
              <a:rPr lang="en-US" sz="1000" dirty="0"/>
              <a:t>✅ </a:t>
            </a:r>
            <a:r>
              <a:rPr lang="en-US" sz="1000" b="1" dirty="0"/>
              <a:t>**Merchant Protection**</a:t>
            </a:r>
            <a:r>
              <a:rPr lang="en-US" sz="1000" dirty="0"/>
              <a:t> - Identify compromised merchant accounts</a:t>
            </a:r>
          </a:p>
          <a:p>
            <a:r>
              <a:rPr lang="en-US" sz="1000" dirty="0"/>
              <a:t>✅ </a:t>
            </a:r>
            <a:r>
              <a:rPr lang="en-US" sz="1000" b="1" dirty="0"/>
              <a:t>**Network Security**</a:t>
            </a:r>
            <a:r>
              <a:rPr lang="en-US" sz="1000" dirty="0"/>
              <a:t> - Detect payment card testing attacks</a:t>
            </a:r>
          </a:p>
          <a:p>
            <a:r>
              <a:rPr lang="en-US" sz="1000" dirty="0"/>
              <a:t>✅ </a:t>
            </a:r>
            <a:r>
              <a:rPr lang="en-US" sz="1000" b="1" dirty="0"/>
              <a:t>**Brand Protection**</a:t>
            </a:r>
            <a:r>
              <a:rPr lang="en-US" sz="1000" dirty="0"/>
              <a:t> - Maintain network integrity</a:t>
            </a:r>
            <a:endParaRPr sz="10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78B7646-B84F-1086-A546-74C07E231CB6}"/>
              </a:ext>
            </a:extLst>
          </p:cNvPr>
          <p:cNvSpPr txBox="1">
            <a:spLocks/>
          </p:cNvSpPr>
          <p:nvPr/>
        </p:nvSpPr>
        <p:spPr>
          <a:xfrm>
            <a:off x="5876458" y="1135771"/>
            <a:ext cx="5484716" cy="39180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Autofit/>
          </a:bodyPr>
          <a:lstStyle>
            <a:lvl1pPr marL="304776" indent="-304776" algn="l" defTabSz="1219110" rtl="0" eaLnBrk="1" latinLnBrk="0" hangingPunct="1">
              <a:lnSpc>
                <a:spcPct val="90000"/>
              </a:lnSpc>
              <a:spcBef>
                <a:spcPts val="1333"/>
              </a:spcBef>
              <a:buClr>
                <a:srgbClr val="4E84C4"/>
              </a:buClr>
              <a:buFont typeface="Arial" panose="020B0604020202020204" pitchFamily="34" charset="0"/>
              <a:buChar char="•"/>
              <a:defRPr sz="2133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8019" indent="-304776" algn="l" defTabSz="1219110" rtl="0" eaLnBrk="1" latinLnBrk="0" hangingPunct="1">
              <a:lnSpc>
                <a:spcPct val="90000"/>
              </a:lnSpc>
              <a:spcBef>
                <a:spcPts val="667"/>
              </a:spcBef>
              <a:buClr>
                <a:srgbClr val="4E84C4"/>
              </a:buClr>
              <a:buFont typeface="Symbol" panose="05050102010706020507" pitchFamily="18" charset="2"/>
              <a:buChar char="-"/>
              <a:defRPr sz="2133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8565" indent="-304776" algn="l" defTabSz="1219110" rtl="0" eaLnBrk="1" latinLnBrk="0" hangingPunct="1">
              <a:lnSpc>
                <a:spcPct val="90000"/>
              </a:lnSpc>
              <a:spcBef>
                <a:spcPts val="667"/>
              </a:spcBef>
              <a:buClr>
                <a:srgbClr val="4E84C4"/>
              </a:buClr>
              <a:buFont typeface="Arial" panose="020B0604020202020204" pitchFamily="34" charset="0"/>
              <a:buChar char="•"/>
              <a:defRPr sz="2133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9110" indent="-304776" algn="l" defTabSz="1219110" rtl="0" eaLnBrk="1" latinLnBrk="0" hangingPunct="1">
              <a:lnSpc>
                <a:spcPct val="90000"/>
              </a:lnSpc>
              <a:spcBef>
                <a:spcPts val="667"/>
              </a:spcBef>
              <a:buClr>
                <a:srgbClr val="4E84C4"/>
              </a:buClr>
              <a:buFont typeface="Courier New" panose="02070309020205020404" pitchFamily="49" charset="0"/>
              <a:buChar char="o"/>
              <a:tabLst/>
              <a:defRPr sz="2133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19653" indent="-304776" algn="l" defTabSz="1219110" rtl="0" eaLnBrk="1" latinLnBrk="0" hangingPunct="1">
              <a:lnSpc>
                <a:spcPct val="90000"/>
              </a:lnSpc>
              <a:spcBef>
                <a:spcPts val="667"/>
              </a:spcBef>
              <a:buClr>
                <a:srgbClr val="4E84C4"/>
              </a:buClr>
              <a:buFont typeface="Arial" panose="020B0604020202020204" pitchFamily="34" charset="0"/>
              <a:buChar char="•"/>
              <a:defRPr sz="2133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548" indent="-304776" algn="l" defTabSz="121911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104" indent="-304776" algn="l" defTabSz="121911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658" indent="-304776" algn="l" defTabSz="121911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212" indent="-304776" algn="l" defTabSz="121911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1" dirty="0"/>
              <a:t>### **For FinTech Companies:**</a:t>
            </a:r>
            <a:endParaRPr lang="en-US" sz="1000" dirty="0"/>
          </a:p>
          <a:p>
            <a:r>
              <a:rPr lang="en-US" sz="1000" dirty="0"/>
              <a:t>✅ </a:t>
            </a:r>
            <a:r>
              <a:rPr lang="en-US" sz="1000" b="1" dirty="0"/>
              <a:t>**Scalability**</a:t>
            </a:r>
            <a:r>
              <a:rPr lang="en-US" sz="1000" dirty="0"/>
              <a:t> - Handle millions of transactions without manual review</a:t>
            </a:r>
          </a:p>
          <a:p>
            <a:r>
              <a:rPr lang="en-US" sz="1000" dirty="0"/>
              <a:t>✅ </a:t>
            </a:r>
            <a:r>
              <a:rPr lang="en-US" sz="1000" b="1" dirty="0"/>
              <a:t>**Real-Time Detection**</a:t>
            </a:r>
            <a:r>
              <a:rPr lang="en-US" sz="1000" dirty="0"/>
              <a:t> - Instant fraud alerts during checkout</a:t>
            </a:r>
          </a:p>
          <a:p>
            <a:r>
              <a:rPr lang="en-US" sz="1000" dirty="0"/>
              <a:t>✅ </a:t>
            </a:r>
            <a:r>
              <a:rPr lang="en-US" sz="1000" b="1" dirty="0"/>
              <a:t>**Cost-Effective**</a:t>
            </a:r>
            <a:r>
              <a:rPr lang="en-US" sz="1000" dirty="0"/>
              <a:t> - No large fraud team needed</a:t>
            </a:r>
          </a:p>
          <a:p>
            <a:r>
              <a:rPr lang="en-US" sz="1000" dirty="0"/>
              <a:t>✅ </a:t>
            </a:r>
            <a:r>
              <a:rPr lang="en-US" sz="1000" b="1" dirty="0"/>
              <a:t>**Competitive Edge**</a:t>
            </a:r>
            <a:r>
              <a:rPr lang="en-US" sz="1000" dirty="0"/>
              <a:t> - Better fraud rates than incumbents</a:t>
            </a:r>
          </a:p>
          <a:p>
            <a:br>
              <a:rPr lang="en-US" sz="1000" dirty="0"/>
            </a:br>
            <a:endParaRPr lang="en-US" sz="1000" dirty="0"/>
          </a:p>
          <a:p>
            <a:r>
              <a:rPr lang="en-US" sz="1000" b="1" dirty="0"/>
              <a:t>### **For Insurance Companies:**</a:t>
            </a:r>
            <a:endParaRPr lang="en-US" sz="1000" dirty="0"/>
          </a:p>
          <a:p>
            <a:r>
              <a:rPr lang="en-US" sz="1000" dirty="0"/>
              <a:t>✅ </a:t>
            </a:r>
            <a:r>
              <a:rPr lang="en-US" sz="1000" b="1" dirty="0"/>
              <a:t>**Claims Fraud Detection**</a:t>
            </a:r>
            <a:r>
              <a:rPr lang="en-US" sz="1000" dirty="0"/>
              <a:t> - Identify fraudulent insurance claims</a:t>
            </a:r>
          </a:p>
          <a:p>
            <a:r>
              <a:rPr lang="en-US" sz="1000" dirty="0"/>
              <a:t>✅ </a:t>
            </a:r>
            <a:r>
              <a:rPr lang="en-US" sz="1000" b="1" dirty="0"/>
              <a:t>**Premium Fraud Prevention**</a:t>
            </a:r>
            <a:r>
              <a:rPr lang="en-US" sz="1000" dirty="0"/>
              <a:t> - Detect misrepresented risk factors</a:t>
            </a:r>
          </a:p>
          <a:p>
            <a:r>
              <a:rPr lang="en-US" sz="1000" dirty="0"/>
              <a:t>✅ </a:t>
            </a:r>
            <a:r>
              <a:rPr lang="en-US" sz="1000" b="1" dirty="0"/>
              <a:t>**Provider Fraud**</a:t>
            </a:r>
            <a:r>
              <a:rPr lang="en-US" sz="1000" dirty="0"/>
              <a:t> - Flag suspicious provider billing patterns</a:t>
            </a:r>
          </a:p>
          <a:p>
            <a:r>
              <a:rPr lang="en-US" sz="1000" dirty="0"/>
              <a:t>✅ </a:t>
            </a:r>
            <a:r>
              <a:rPr lang="en-US" sz="1000" b="1" dirty="0"/>
              <a:t>**Compliance**</a:t>
            </a:r>
            <a:r>
              <a:rPr lang="en-US" sz="1000" dirty="0"/>
              <a:t> - Document fraud investigation processes</a:t>
            </a:r>
          </a:p>
          <a:p>
            <a:br>
              <a:rPr lang="en-US" sz="1000" dirty="0"/>
            </a:br>
            <a:endParaRPr lang="en-US" sz="1000" dirty="0"/>
          </a:p>
          <a:p>
            <a:pPr>
              <a:defRPr sz="1800">
                <a:solidFill>
                  <a:srgbClr val="595959"/>
                </a:solidFill>
              </a:defRPr>
            </a:pP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844262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4E7C3-D7F1-D3BF-46B9-23B825061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66343-2E1D-27ED-546B-C2181C80B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b="1" dirty="0"/>
              <a:t>ROI &amp; Business Value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3F1A1-794C-B7FF-8D64-C9F5559C5D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6653" y="634326"/>
            <a:ext cx="4304845" cy="3918009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Autofit/>
          </a:bodyPr>
          <a:lstStyle/>
          <a:p>
            <a:r>
              <a:rPr lang="en-US" sz="1000" b="1" dirty="0"/>
              <a:t>### **Financial Impact:**</a:t>
            </a:r>
            <a:endParaRPr lang="en-US" sz="1000" dirty="0"/>
          </a:p>
          <a:p>
            <a:r>
              <a:rPr lang="en-US" sz="1000" b="1" dirty="0"/>
              <a:t>**Annual Fraud Losses (Without Solution):**</a:t>
            </a:r>
            <a:endParaRPr lang="en-US" sz="1000" dirty="0"/>
          </a:p>
          <a:p>
            <a:r>
              <a:rPr lang="en-US" sz="1000" dirty="0"/>
              <a:t>- 10M transactions × 0.5% fraud rate = 50,000 fraudulent transactions</a:t>
            </a:r>
          </a:p>
          <a:p>
            <a:r>
              <a:rPr lang="en-US" sz="1000" dirty="0"/>
              <a:t>- 50,000 × $250 average loss = </a:t>
            </a:r>
            <a:r>
              <a:rPr lang="en-US" sz="1000" b="1" dirty="0"/>
              <a:t>**$12.5M in losses**</a:t>
            </a:r>
            <a:endParaRPr lang="en-US" sz="1000" dirty="0"/>
          </a:p>
          <a:p>
            <a:br>
              <a:rPr lang="en-US" sz="1000" dirty="0"/>
            </a:br>
            <a:endParaRPr lang="en-US" sz="1000" dirty="0"/>
          </a:p>
          <a:p>
            <a:r>
              <a:rPr lang="en-US" sz="1000" b="1" dirty="0"/>
              <a:t>**With Fraud Detection System:**</a:t>
            </a:r>
            <a:endParaRPr lang="en-US" sz="1000" dirty="0"/>
          </a:p>
          <a:p>
            <a:r>
              <a:rPr lang="en-US" sz="1000" dirty="0"/>
              <a:t>- 97% detection rate = 48,500 frauds caught</a:t>
            </a:r>
          </a:p>
          <a:p>
            <a:r>
              <a:rPr lang="en-US" sz="1000" dirty="0"/>
              <a:t>- 48,500 × $250 = </a:t>
            </a:r>
            <a:r>
              <a:rPr lang="en-US" sz="1000" b="1" dirty="0"/>
              <a:t>**$12.1M losses prevented**</a:t>
            </a:r>
            <a:endParaRPr lang="en-US" sz="1000" dirty="0"/>
          </a:p>
          <a:p>
            <a:r>
              <a:rPr lang="en-US" sz="1000" dirty="0"/>
              <a:t>- False positives reduced by 60% = </a:t>
            </a:r>
            <a:r>
              <a:rPr lang="en-US" sz="1000" b="1" dirty="0"/>
              <a:t>**$2M saved in ops costs**</a:t>
            </a:r>
            <a:endParaRPr lang="en-US" sz="1000" dirty="0"/>
          </a:p>
          <a:p>
            <a:r>
              <a:rPr lang="en-US" sz="1000" dirty="0"/>
              <a:t>- </a:t>
            </a:r>
            <a:r>
              <a:rPr lang="en-US" sz="1000" b="1" dirty="0"/>
              <a:t>**Total Annual Savings: $14.1M**</a:t>
            </a:r>
            <a:endParaRPr lang="en-US" sz="10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959DB74-F353-1295-60E5-B02B984AE984}"/>
              </a:ext>
            </a:extLst>
          </p:cNvPr>
          <p:cNvSpPr txBox="1">
            <a:spLocks/>
          </p:cNvSpPr>
          <p:nvPr/>
        </p:nvSpPr>
        <p:spPr>
          <a:xfrm>
            <a:off x="4640825" y="634326"/>
            <a:ext cx="6700684" cy="57664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Autofit/>
          </a:bodyPr>
          <a:lstStyle>
            <a:lvl1pPr marL="304776" indent="-304776" algn="l" defTabSz="1219110" rtl="0" eaLnBrk="1" latinLnBrk="0" hangingPunct="1">
              <a:lnSpc>
                <a:spcPct val="90000"/>
              </a:lnSpc>
              <a:spcBef>
                <a:spcPts val="1333"/>
              </a:spcBef>
              <a:buClr>
                <a:srgbClr val="4E84C4"/>
              </a:buClr>
              <a:buFont typeface="Arial" panose="020B0604020202020204" pitchFamily="34" charset="0"/>
              <a:buChar char="•"/>
              <a:defRPr sz="2133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8019" indent="-304776" algn="l" defTabSz="1219110" rtl="0" eaLnBrk="1" latinLnBrk="0" hangingPunct="1">
              <a:lnSpc>
                <a:spcPct val="90000"/>
              </a:lnSpc>
              <a:spcBef>
                <a:spcPts val="667"/>
              </a:spcBef>
              <a:buClr>
                <a:srgbClr val="4E84C4"/>
              </a:buClr>
              <a:buFont typeface="Symbol" panose="05050102010706020507" pitchFamily="18" charset="2"/>
              <a:buChar char="-"/>
              <a:defRPr sz="2133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8565" indent="-304776" algn="l" defTabSz="1219110" rtl="0" eaLnBrk="1" latinLnBrk="0" hangingPunct="1">
              <a:lnSpc>
                <a:spcPct val="90000"/>
              </a:lnSpc>
              <a:spcBef>
                <a:spcPts val="667"/>
              </a:spcBef>
              <a:buClr>
                <a:srgbClr val="4E84C4"/>
              </a:buClr>
              <a:buFont typeface="Arial" panose="020B0604020202020204" pitchFamily="34" charset="0"/>
              <a:buChar char="•"/>
              <a:defRPr sz="2133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9110" indent="-304776" algn="l" defTabSz="1219110" rtl="0" eaLnBrk="1" latinLnBrk="0" hangingPunct="1">
              <a:lnSpc>
                <a:spcPct val="90000"/>
              </a:lnSpc>
              <a:spcBef>
                <a:spcPts val="667"/>
              </a:spcBef>
              <a:buClr>
                <a:srgbClr val="4E84C4"/>
              </a:buClr>
              <a:buFont typeface="Courier New" panose="02070309020205020404" pitchFamily="49" charset="0"/>
              <a:buChar char="o"/>
              <a:tabLst/>
              <a:defRPr sz="2133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19653" indent="-304776" algn="l" defTabSz="1219110" rtl="0" eaLnBrk="1" latinLnBrk="0" hangingPunct="1">
              <a:lnSpc>
                <a:spcPct val="90000"/>
              </a:lnSpc>
              <a:spcBef>
                <a:spcPts val="667"/>
              </a:spcBef>
              <a:buClr>
                <a:srgbClr val="4E84C4"/>
              </a:buClr>
              <a:buFont typeface="Arial" panose="020B0604020202020204" pitchFamily="34" charset="0"/>
              <a:buChar char="•"/>
              <a:defRPr sz="2133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548" indent="-304776" algn="l" defTabSz="121911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104" indent="-304776" algn="l" defTabSz="121911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658" indent="-304776" algn="l" defTabSz="121911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212" indent="-304776" algn="l" defTabSz="121911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1" dirty="0"/>
              <a:t>### **Operational Benefits:**</a:t>
            </a:r>
            <a:endParaRPr lang="en-US" sz="1000" dirty="0"/>
          </a:p>
          <a:p>
            <a:r>
              <a:rPr lang="en-US" sz="1000" dirty="0"/>
              <a:t>- </a:t>
            </a:r>
            <a:r>
              <a:rPr lang="en-US" sz="1000" b="1" dirty="0"/>
              <a:t>**Investigation Time:**</a:t>
            </a:r>
            <a:r>
              <a:rPr lang="en-US" sz="1000" dirty="0"/>
              <a:t> 8 hours → 30 minutes (75% reduction)</a:t>
            </a:r>
          </a:p>
          <a:p>
            <a:r>
              <a:rPr lang="en-US" sz="1000" dirty="0"/>
              <a:t>- </a:t>
            </a:r>
            <a:r>
              <a:rPr lang="en-US" sz="1000" b="1" dirty="0"/>
              <a:t>**Analyst Productivity:**</a:t>
            </a:r>
            <a:r>
              <a:rPr lang="en-US" sz="1000" dirty="0"/>
              <a:t> 5 cases/day → 20 cases/day (4x improvement)</a:t>
            </a:r>
          </a:p>
          <a:p>
            <a:r>
              <a:rPr lang="en-US" sz="1000" dirty="0"/>
              <a:t>- </a:t>
            </a:r>
            <a:r>
              <a:rPr lang="en-US" sz="1000" b="1" dirty="0"/>
              <a:t>**Customer Satisfaction:**</a:t>
            </a:r>
            <a:r>
              <a:rPr lang="en-US" sz="1000" dirty="0"/>
              <a:t> Fewer false declines = happier customers</a:t>
            </a:r>
          </a:p>
          <a:p>
            <a:r>
              <a:rPr lang="en-US" sz="1000" dirty="0"/>
              <a:t>- </a:t>
            </a:r>
            <a:r>
              <a:rPr lang="en-US" sz="1000" b="1" dirty="0"/>
              <a:t>**Regulatory Fines:**</a:t>
            </a:r>
            <a:r>
              <a:rPr lang="en-US" sz="1000" dirty="0"/>
              <a:t> Avoided penalties for compliance failures</a:t>
            </a:r>
          </a:p>
          <a:p>
            <a:br>
              <a:rPr lang="en-US" sz="1000" dirty="0"/>
            </a:br>
            <a:endParaRPr lang="en-US" sz="1000" dirty="0"/>
          </a:p>
          <a:p>
            <a:r>
              <a:rPr lang="en-US" sz="1000" b="1" dirty="0"/>
              <a:t>### **Competitive Advantages:**</a:t>
            </a:r>
            <a:endParaRPr lang="en-US" sz="1000" dirty="0"/>
          </a:p>
          <a:p>
            <a:r>
              <a:rPr lang="en-US" sz="1000" dirty="0"/>
              <a:t>- </a:t>
            </a:r>
            <a:r>
              <a:rPr lang="en-US" sz="1000" b="1" dirty="0"/>
              <a:t>**Faster Payments:**</a:t>
            </a:r>
            <a:r>
              <a:rPr lang="en-US" sz="1000" dirty="0"/>
              <a:t> Real-time fraud checks enable instant transfers</a:t>
            </a:r>
          </a:p>
          <a:p>
            <a:r>
              <a:rPr lang="en-US" sz="1000" dirty="0"/>
              <a:t>- </a:t>
            </a:r>
            <a:r>
              <a:rPr lang="en-US" sz="1000" b="1" dirty="0"/>
              <a:t>**Better Customer Experience:**</a:t>
            </a:r>
            <a:r>
              <a:rPr lang="en-US" sz="1000" dirty="0"/>
              <a:t> Intelligent risk-based decisions</a:t>
            </a:r>
          </a:p>
          <a:p>
            <a:r>
              <a:rPr lang="en-US" sz="1000" dirty="0"/>
              <a:t>- </a:t>
            </a:r>
            <a:r>
              <a:rPr lang="en-US" sz="1000" b="1" dirty="0"/>
              <a:t>**Lower Insurance Costs:**</a:t>
            </a:r>
            <a:r>
              <a:rPr lang="en-US" sz="1000" dirty="0"/>
              <a:t> Reduced fraud = lower premiums</a:t>
            </a:r>
          </a:p>
          <a:p>
            <a:r>
              <a:rPr lang="en-US" sz="1000" dirty="0"/>
              <a:t>- </a:t>
            </a:r>
            <a:r>
              <a:rPr lang="en-US" sz="1000" b="1" dirty="0"/>
              <a:t>**Market Differentiation:**</a:t>
            </a:r>
            <a:r>
              <a:rPr lang="en-US" sz="1000" dirty="0"/>
              <a:t> "AI-powered fraud protection" as selling point</a:t>
            </a:r>
          </a:p>
          <a:p>
            <a:br>
              <a:rPr lang="en-US" sz="1000" dirty="0"/>
            </a:br>
            <a:endParaRPr lang="en-US" sz="1000" dirty="0"/>
          </a:p>
          <a:p>
            <a:r>
              <a:rPr lang="en-US" sz="1000" b="1" dirty="0"/>
              <a:t>### **Risk Mitigation:**</a:t>
            </a:r>
            <a:endParaRPr lang="en-US" sz="1000" dirty="0"/>
          </a:p>
          <a:p>
            <a:r>
              <a:rPr lang="en-US" sz="1000" dirty="0"/>
              <a:t>- </a:t>
            </a:r>
            <a:r>
              <a:rPr lang="en-US" sz="1000" b="1" dirty="0"/>
              <a:t>**Reputational Risk:**</a:t>
            </a:r>
            <a:r>
              <a:rPr lang="en-US" sz="1000" dirty="0"/>
              <a:t> Prevent fraud-related news stories</a:t>
            </a:r>
          </a:p>
          <a:p>
            <a:r>
              <a:rPr lang="en-US" sz="1000" dirty="0"/>
              <a:t>- </a:t>
            </a:r>
            <a:r>
              <a:rPr lang="en-US" sz="1000" b="1" dirty="0"/>
              <a:t>**Regulatory Risk:**</a:t>
            </a:r>
            <a:r>
              <a:rPr lang="en-US" sz="1000" dirty="0"/>
              <a:t> Demonstrate due diligence to regulators</a:t>
            </a:r>
          </a:p>
          <a:p>
            <a:r>
              <a:rPr lang="en-US" sz="1000" dirty="0"/>
              <a:t>- </a:t>
            </a:r>
            <a:r>
              <a:rPr lang="en-US" sz="1000" b="1" dirty="0"/>
              <a:t>**Operational Risk:**</a:t>
            </a:r>
            <a:r>
              <a:rPr lang="en-US" sz="1000" dirty="0"/>
              <a:t> Reduce reliance on manual processes</a:t>
            </a:r>
          </a:p>
          <a:p>
            <a:r>
              <a:rPr lang="en-US" sz="1000" dirty="0"/>
              <a:t>- </a:t>
            </a:r>
            <a:r>
              <a:rPr lang="en-US" sz="1000" b="1" dirty="0"/>
              <a:t>**Strategic Risk:**</a:t>
            </a:r>
            <a:r>
              <a:rPr lang="en-US" sz="1000" dirty="0"/>
              <a:t> Keep pace with evolving fraud techniques</a:t>
            </a:r>
          </a:p>
        </p:txBody>
      </p:sp>
    </p:spTree>
    <p:extLst>
      <p:ext uri="{BB962C8B-B14F-4D97-AF65-F5344CB8AC3E}">
        <p14:creationId xmlns:p14="http://schemas.microsoft.com/office/powerpoint/2010/main" val="3942258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0D77B-665B-99EF-AE8A-9FED41D3C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B0ECD-F656-C2EC-6FBE-F0B9BD0FB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6" y="84897"/>
            <a:ext cx="10514927" cy="73736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b="1" dirty="0"/>
              <a:t>Technical Key Components and Summary</a:t>
            </a:r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E954DBF-1675-3627-C423-91E75DEC1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876" y="530525"/>
            <a:ext cx="5179913" cy="563231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Data Ingestion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Load or generate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5,000 banking transactions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(JSON format)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Split into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training (legitimate only)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and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test (legit + fraud)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datasets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Data Preprocessing &amp; Feature Engineering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Clean transaction descriptions and normalize text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Extract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37 numerical features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amount analytics, temporal signals, location risk, velocity checks, merchant/category encoding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Generate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384-dimensional sentence embeddings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using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all-MiniLM-L6-v2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Combine into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421-feature vector per transaction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Core ML Components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BankingDataProcessor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Converts raw transactions → numerical features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EmbeddingAnomalyDetector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Merges embeddings + numeric features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ExplanationGenerator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Produces human-readable fraud explanations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BankingFraudDetectionSystem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Orchestrates end-to-end pipeline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sz="1200" dirty="0"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b="1" dirty="0">
                <a:solidFill>
                  <a:schemeClr val="tx1"/>
                </a:solidFill>
              </a:rPr>
              <a:t>Fraud Scoring &amp; Decisioning</a:t>
            </a:r>
            <a:endParaRPr lang="en-US" altLang="en-US" sz="1200" dirty="0">
              <a:solidFill>
                <a:schemeClr val="tx1"/>
              </a:solidFill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solidFill>
                  <a:schemeClr val="tx1"/>
                </a:solidFill>
              </a:rPr>
              <a:t>Compute anomaly score from each model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solidFill>
                  <a:schemeClr val="tx1"/>
                </a:solidFill>
              </a:rPr>
              <a:t>Aggregate scores (ensemble average)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solidFill>
                  <a:schemeClr val="tx1"/>
                </a:solidFill>
              </a:rPr>
              <a:t>Compare with configurable </a:t>
            </a:r>
            <a:r>
              <a:rPr lang="en-US" altLang="en-US" sz="1200" b="1" dirty="0">
                <a:solidFill>
                  <a:schemeClr val="tx1"/>
                </a:solidFill>
              </a:rPr>
              <a:t>fraud threshold (default 0.70)</a:t>
            </a:r>
            <a:endParaRPr lang="en-US" altLang="en-US" sz="1200" dirty="0">
              <a:solidFill>
                <a:schemeClr val="tx1"/>
              </a:solidFill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solidFill>
                  <a:schemeClr val="tx1"/>
                </a:solidFill>
              </a:rPr>
              <a:t>Assign risk level: Low / Medium / High / Critical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2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b="1" dirty="0"/>
              <a:t>Explainability Layer</a:t>
            </a:r>
            <a:endParaRPr lang="en-US" altLang="en-US" sz="1200" dirty="0"/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b="1" dirty="0"/>
              <a:t>Template-based explanations</a:t>
            </a:r>
            <a:r>
              <a:rPr lang="en-US" altLang="en-US" sz="1200" dirty="0"/>
              <a:t> (default, no API)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b="1" dirty="0"/>
              <a:t>Azure OpenAI GPT-4</a:t>
            </a:r>
            <a:r>
              <a:rPr lang="en-US" altLang="en-US" sz="1200" dirty="0"/>
              <a:t> explanations via custom </a:t>
            </a:r>
            <a:r>
              <a:rPr lang="en-US" altLang="en-US" sz="1200" b="1" dirty="0"/>
              <a:t>OAuth2 authentication</a:t>
            </a:r>
            <a:r>
              <a:rPr lang="en-US" altLang="en-US" sz="1200" dirty="0"/>
              <a:t> (optional)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/>
              <a:t>Highlight key risk drivers: amount deviation, category risk, time, location, keywords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sz="1200" dirty="0">
              <a:latin typeface="+mj-lt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0D10188-C539-5AB5-A6C4-EC0FF5DA5F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4789" y="530525"/>
            <a:ext cx="6599661" cy="507831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b="1" dirty="0">
                <a:solidFill>
                  <a:schemeClr val="tx1"/>
                </a:solidFill>
              </a:rPr>
              <a:t>Model Training</a:t>
            </a:r>
            <a:endParaRPr lang="en-US" altLang="en-US" sz="1200" dirty="0">
              <a:solidFill>
                <a:schemeClr val="tx1"/>
              </a:solidFill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solidFill>
                  <a:schemeClr val="tx1"/>
                </a:solidFill>
              </a:rPr>
              <a:t>Train </a:t>
            </a:r>
            <a:r>
              <a:rPr lang="en-US" altLang="en-US" sz="1200" b="1" dirty="0">
                <a:solidFill>
                  <a:schemeClr val="tx1"/>
                </a:solidFill>
              </a:rPr>
              <a:t>4 unsupervised models</a:t>
            </a:r>
            <a:r>
              <a:rPr lang="en-US" altLang="en-US" sz="1200" dirty="0">
                <a:solidFill>
                  <a:schemeClr val="tx1"/>
                </a:solidFill>
              </a:rPr>
              <a:t> on legitimate data only: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solidFill>
                  <a:schemeClr val="tx1"/>
                </a:solidFill>
              </a:rPr>
              <a:t>Isolation Forest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solidFill>
                  <a:schemeClr val="tx1"/>
                </a:solidFill>
              </a:rPr>
              <a:t>Local Outlier Factor (LOF)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solidFill>
                  <a:schemeClr val="tx1"/>
                </a:solidFill>
              </a:rPr>
              <a:t>One-Class SVM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 err="1">
                <a:solidFill>
                  <a:schemeClr val="tx1"/>
                </a:solidFill>
              </a:rPr>
              <a:t>Mahalanobis</a:t>
            </a:r>
            <a:r>
              <a:rPr lang="en-US" altLang="en-US" sz="1200" dirty="0">
                <a:solidFill>
                  <a:schemeClr val="tx1"/>
                </a:solidFill>
              </a:rPr>
              <a:t> Distance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solidFill>
                  <a:schemeClr val="tx1"/>
                </a:solidFill>
              </a:rPr>
              <a:t>Learn baseline “normal” transaction behavior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If we use only ONE model: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Only Isolation Forest: Might score 0.87 → Below some thresholds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Only LOF: Would catch it (0.91)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Only SVM: Might score 0.89 → Borderline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Only </a:t>
            </a:r>
            <a:r>
              <a:rPr lang="en-US" sz="1200" dirty="0" err="1"/>
              <a:t>Mahalanobis</a:t>
            </a:r>
            <a:r>
              <a:rPr lang="en-US" sz="1200" dirty="0"/>
              <a:t>: Would catch it (0.95)</a:t>
            </a:r>
            <a:endParaRPr lang="en-US" altLang="en-US" sz="1200" dirty="0"/>
          </a:p>
          <a:p>
            <a:pPr indent="-1714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Why ALL FOUR?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Each model catches frauds the others miss: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dirty="0"/>
              <a:t>Isolation Forest</a:t>
            </a:r>
            <a:r>
              <a:rPr lang="en-US" sz="1200" dirty="0"/>
              <a:t>: Extreme outliers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dirty="0"/>
              <a:t>LOF</a:t>
            </a:r>
            <a:r>
              <a:rPr lang="en-US" sz="1200" dirty="0"/>
              <a:t>: Local pattern changes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dirty="0"/>
              <a:t>One-Class SVM</a:t>
            </a:r>
            <a:r>
              <a:rPr lang="en-US" sz="1200" dirty="0"/>
              <a:t>: Boundary violations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dirty="0" err="1"/>
              <a:t>Mahalanobis</a:t>
            </a:r>
            <a:r>
              <a:rPr lang="en-US" sz="1200" dirty="0"/>
              <a:t>: Correlated anomalies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Together they create a </a:t>
            </a:r>
            <a:r>
              <a:rPr lang="en-US" sz="1200" b="1" dirty="0"/>
              <a:t>fraud detection dream team</a:t>
            </a:r>
            <a:r>
              <a:rPr lang="en-US" sz="1200" dirty="0"/>
              <a:t> where the whole is greater than the sum of its parts!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dirty="0"/>
              <a:t>Training cost</a:t>
            </a:r>
            <a:r>
              <a:rPr lang="en-US" sz="1200" dirty="0"/>
              <a:t>: +30 seconds one-time</a:t>
            </a:r>
            <a:br>
              <a:rPr lang="en-US" sz="1200" dirty="0"/>
            </a:br>
            <a:r>
              <a:rPr lang="en-US" sz="1200" b="1" dirty="0"/>
              <a:t>Detection cost</a:t>
            </a:r>
            <a:r>
              <a:rPr lang="en-US" sz="1200" dirty="0"/>
              <a:t>: Nearly zero (parallel processing)</a:t>
            </a:r>
            <a:br>
              <a:rPr lang="en-US" sz="1200" dirty="0"/>
            </a:br>
            <a:r>
              <a:rPr lang="en-US" sz="1200" b="1" dirty="0"/>
              <a:t>Benefit</a:t>
            </a:r>
            <a:r>
              <a:rPr lang="en-US" sz="1200" dirty="0"/>
              <a:t>: Save $500K+ and catch 10-15% more fraud</a:t>
            </a:r>
            <a:endParaRPr lang="en-US" altLang="en-US" sz="12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b="1" dirty="0"/>
              <a:t>Model Evaluation</a:t>
            </a:r>
            <a:endParaRPr lang="en-US" altLang="en-US" sz="1200" dirty="0"/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/>
              <a:t>Generate </a:t>
            </a:r>
            <a:r>
              <a:rPr lang="en-US" altLang="en-US" sz="1200" b="1" dirty="0"/>
              <a:t>confusion matrix</a:t>
            </a:r>
            <a:endParaRPr lang="en-US" altLang="en-US" sz="1200" dirty="0"/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/>
              <a:t>Calculate </a:t>
            </a:r>
            <a:r>
              <a:rPr lang="en-US" altLang="en-US" sz="1200" b="1" dirty="0"/>
              <a:t>Accuracy, Precision, Recall, F1-score</a:t>
            </a:r>
            <a:endParaRPr lang="en-US" altLang="en-US" sz="1200" dirty="0"/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/>
              <a:t>Validate predictions against ground-truth labels</a:t>
            </a:r>
          </a:p>
        </p:txBody>
      </p:sp>
    </p:spTree>
    <p:extLst>
      <p:ext uri="{BB962C8B-B14F-4D97-AF65-F5344CB8AC3E}">
        <p14:creationId xmlns:p14="http://schemas.microsoft.com/office/powerpoint/2010/main" val="14021726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87FD1-B96F-13E1-72C3-04A7F5B64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BC020-32F2-9740-C90F-93B78CF6C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b="1" dirty="0"/>
              <a:t>Artifacts Attached</a:t>
            </a:r>
            <a:endParaRPr lang="en-US" dirty="0"/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F0866DC0-89D4-F3F9-2B96-26F7B50C64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1932668"/>
              </p:ext>
            </p:extLst>
          </p:nvPr>
        </p:nvGraphicFramePr>
        <p:xfrm>
          <a:off x="5677512" y="1199945"/>
          <a:ext cx="102870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2" imgW="1028806" imgH="518081" progId="Package">
                  <p:embed/>
                </p:oleObj>
              </mc:Choice>
              <mc:Fallback>
                <p:oleObj name="Packager Shell Object" showAsIcon="1" r:id="rId2" imgW="1028806" imgH="518081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677512" y="1199945"/>
                        <a:ext cx="1028700" cy="517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6E474D1B-F2DE-E446-76D7-350CAE1C34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347170"/>
              </p:ext>
            </p:extLst>
          </p:nvPr>
        </p:nvGraphicFramePr>
        <p:xfrm>
          <a:off x="1543870" y="1201242"/>
          <a:ext cx="194310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4" imgW="1943206" imgH="518081" progId="Package">
                  <p:embed/>
                </p:oleObj>
              </mc:Choice>
              <mc:Fallback>
                <p:oleObj name="Packager Shell Object" showAsIcon="1" r:id="rId4" imgW="1943206" imgH="518081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43870" y="1201242"/>
                        <a:ext cx="1943100" cy="517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1BFB2615-FA24-7791-456F-135B720282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5471334"/>
              </p:ext>
            </p:extLst>
          </p:nvPr>
        </p:nvGraphicFramePr>
        <p:xfrm>
          <a:off x="3309066" y="1199945"/>
          <a:ext cx="1273175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6" imgW="1272505" imgH="518081" progId="Package">
                  <p:embed/>
                </p:oleObj>
              </mc:Choice>
              <mc:Fallback>
                <p:oleObj name="Packager Shell Object" showAsIcon="1" r:id="rId6" imgW="1272505" imgH="518081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309066" y="1199945"/>
                        <a:ext cx="1273175" cy="517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43D1225D-44C1-CCE2-FC03-429AD11034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0993396"/>
              </p:ext>
            </p:extLst>
          </p:nvPr>
        </p:nvGraphicFramePr>
        <p:xfrm>
          <a:off x="4582241" y="1199945"/>
          <a:ext cx="102870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8" imgW="1028806" imgH="518081" progId="Package">
                  <p:embed/>
                </p:oleObj>
              </mc:Choice>
              <mc:Fallback>
                <p:oleObj name="Packager Shell Object" showAsIcon="1" r:id="rId8" imgW="1028806" imgH="518081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582241" y="1199945"/>
                        <a:ext cx="1028700" cy="517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03FFD825-A180-1B97-35E0-629580EB03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3650265"/>
              </p:ext>
            </p:extLst>
          </p:nvPr>
        </p:nvGraphicFramePr>
        <p:xfrm>
          <a:off x="3309066" y="1888100"/>
          <a:ext cx="140970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10" imgW="1409877" imgH="518081" progId="Package">
                  <p:embed/>
                </p:oleObj>
              </mc:Choice>
              <mc:Fallback>
                <p:oleObj name="Packager Shell Object" showAsIcon="1" r:id="rId10" imgW="1409877" imgH="518081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309066" y="1888100"/>
                        <a:ext cx="1409700" cy="517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47774469-8A24-F28D-38EE-E976E6AE29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8239706"/>
              </p:ext>
            </p:extLst>
          </p:nvPr>
        </p:nvGraphicFramePr>
        <p:xfrm>
          <a:off x="1578001" y="1889397"/>
          <a:ext cx="1874838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12" imgW="1874733" imgH="518081" progId="Package">
                  <p:embed/>
                </p:oleObj>
              </mc:Choice>
              <mc:Fallback>
                <p:oleObj name="Packager Shell Object" showAsIcon="1" r:id="rId12" imgW="1874733" imgH="518081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78001" y="1889397"/>
                        <a:ext cx="1874838" cy="517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F4C7BC0D-67CE-DC49-B5EB-E3D15B9ACE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9742480"/>
              </p:ext>
            </p:extLst>
          </p:nvPr>
        </p:nvGraphicFramePr>
        <p:xfrm>
          <a:off x="5677512" y="1907765"/>
          <a:ext cx="1158875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14" imgW="1158098" imgH="518081" progId="Package">
                  <p:embed/>
                </p:oleObj>
              </mc:Choice>
              <mc:Fallback>
                <p:oleObj name="Packager Shell Object" showAsIcon="1" r:id="rId14" imgW="1158098" imgH="518081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677512" y="1907765"/>
                        <a:ext cx="1158875" cy="517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598921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09A04-B99B-AFB3-23FF-0AC1581B9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Contribution By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99094D-CCCE-BD5F-5C61-CCE979157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TCS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597C67-9132-57A8-CE67-5BA6C027B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9</a:t>
            </a:fld>
            <a:endParaRPr lang="en-IN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399FD9C-B92F-AFF3-10C6-6863D79132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140534"/>
              </p:ext>
            </p:extLst>
          </p:nvPr>
        </p:nvGraphicFramePr>
        <p:xfrm>
          <a:off x="257324" y="881259"/>
          <a:ext cx="11315244" cy="3322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28811">
                  <a:extLst>
                    <a:ext uri="{9D8B030D-6E8A-4147-A177-3AD203B41FA5}">
                      <a16:colId xmlns:a16="http://schemas.microsoft.com/office/drawing/2014/main" val="354676010"/>
                    </a:ext>
                  </a:extLst>
                </a:gridCol>
                <a:gridCol w="2828811">
                  <a:extLst>
                    <a:ext uri="{9D8B030D-6E8A-4147-A177-3AD203B41FA5}">
                      <a16:colId xmlns:a16="http://schemas.microsoft.com/office/drawing/2014/main" val="1021372452"/>
                    </a:ext>
                  </a:extLst>
                </a:gridCol>
                <a:gridCol w="2828811">
                  <a:extLst>
                    <a:ext uri="{9D8B030D-6E8A-4147-A177-3AD203B41FA5}">
                      <a16:colId xmlns:a16="http://schemas.microsoft.com/office/drawing/2014/main" val="3339093609"/>
                    </a:ext>
                  </a:extLst>
                </a:gridCol>
                <a:gridCol w="2828811">
                  <a:extLst>
                    <a:ext uri="{9D8B030D-6E8A-4147-A177-3AD203B41FA5}">
                      <a16:colId xmlns:a16="http://schemas.microsoft.com/office/drawing/2014/main" val="162649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u="none" strike="noStrike">
                          <a:effectLst/>
                        </a:rPr>
                        <a:t>Employee ID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u="none" strike="noStrike">
                          <a:effectLst/>
                        </a:rPr>
                        <a:t>Employee Name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u="none" strike="noStrike">
                          <a:effectLst/>
                        </a:rPr>
                        <a:t>TCS Email Address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Comments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69802819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679778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Sudip Mukherjee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sng" strike="noStrike">
                          <a:effectLst/>
                          <a:hlinkClick r:id="rId2"/>
                        </a:rPr>
                        <a:t>mukherjee.sudip@tcs.com</a:t>
                      </a:r>
                      <a:endParaRPr lang="en-US" sz="1100" b="0" i="0" u="sng" strike="noStrike">
                        <a:solidFill>
                          <a:srgbClr val="46788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9533124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739973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Avik Mazumder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sng" strike="noStrike">
                          <a:effectLst/>
                          <a:hlinkClick r:id="rId3"/>
                        </a:rPr>
                        <a:t>mazumder.avik@tcs.com</a:t>
                      </a:r>
                      <a:endParaRPr lang="en-US" sz="1100" b="0" i="0" u="sng" strike="noStrike">
                        <a:solidFill>
                          <a:srgbClr val="46788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121911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u="none" strike="noStrike" dirty="0">
                          <a:effectLst/>
                        </a:rPr>
                        <a:t> Joined 22 and 23 call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7458586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753201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Durga Prasad Pechetti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sng" strike="noStrike">
                          <a:effectLst/>
                          <a:hlinkClick r:id="rId4"/>
                        </a:rPr>
                        <a:t>durgaprasad.pechetti@tcs.com</a:t>
                      </a:r>
                      <a:endParaRPr lang="en-US" sz="1100" b="0" i="0" u="sng" strike="noStrike">
                        <a:solidFill>
                          <a:srgbClr val="46788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33725089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849403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Srinivasan 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sng" strike="noStrike">
                          <a:effectLst/>
                          <a:hlinkClick r:id="rId5"/>
                        </a:rPr>
                        <a:t>s.srinivasan12@tcs.com</a:t>
                      </a:r>
                      <a:endParaRPr lang="en-US" sz="1100" b="0" i="0" u="sng" strike="noStrike">
                        <a:solidFill>
                          <a:srgbClr val="46788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3461399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857151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Devendra Singh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sng" strike="noStrike">
                          <a:effectLst/>
                          <a:hlinkClick r:id="rId6"/>
                        </a:rPr>
                        <a:t>deven.singh@tcs.com</a:t>
                      </a:r>
                      <a:endParaRPr lang="en-US" sz="1100" b="0" i="0" u="sng" strike="noStrike">
                        <a:solidFill>
                          <a:srgbClr val="46788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 Shows , Out of office till mid of Jan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2677563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862776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Sathish Kumar Subramanian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sng" strike="noStrike">
                          <a:effectLst/>
                          <a:hlinkClick r:id="rId7"/>
                        </a:rPr>
                        <a:t>s.sathishkumar14@tcs.com</a:t>
                      </a:r>
                      <a:endParaRPr lang="en-US" sz="1100" b="0" i="0" u="sng" strike="noStrike">
                        <a:solidFill>
                          <a:srgbClr val="46788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 23rd call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372022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975946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Ulhas Morbale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sng" strike="noStrike">
                          <a:effectLst/>
                          <a:hlinkClick r:id="rId8"/>
                        </a:rPr>
                        <a:t>ulhas.morbale@tcs.com</a:t>
                      </a:r>
                      <a:endParaRPr lang="en-US" sz="1100" b="0" i="0" u="sng" strike="noStrike">
                        <a:solidFill>
                          <a:srgbClr val="46788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38014013"/>
                  </a:ext>
                </a:extLst>
              </a:tr>
              <a:tr h="8426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1006220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Payel Chowdhury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sng" strike="noStrike">
                          <a:effectLst/>
                          <a:hlinkClick r:id="rId9"/>
                        </a:rPr>
                        <a:t>chowdhury.payel@tcs.com</a:t>
                      </a:r>
                      <a:endParaRPr lang="en-US" sz="1100" b="0" i="0" u="sng" strike="noStrike">
                        <a:solidFill>
                          <a:srgbClr val="46788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 23rd call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2866469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1020998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divaker shukla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sng" strike="noStrike">
                          <a:effectLst/>
                          <a:hlinkClick r:id="rId10"/>
                        </a:rPr>
                        <a:t>divaker.shukla@tcs.com</a:t>
                      </a:r>
                      <a:endParaRPr lang="en-US" sz="1100" b="0" i="0" u="sng" strike="noStrike">
                        <a:solidFill>
                          <a:srgbClr val="46788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536638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1023252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Krishnakumar baskar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sng" strike="noStrike">
                          <a:effectLst/>
                          <a:hlinkClick r:id="rId11"/>
                        </a:rPr>
                        <a:t>krishnakumar.baskar@tcs.com</a:t>
                      </a:r>
                      <a:endParaRPr lang="en-US" sz="1100" b="0" i="0" u="sng" strike="noStrike">
                        <a:solidFill>
                          <a:srgbClr val="46788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30866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1026211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Priyanka Das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sng" strike="noStrike">
                          <a:effectLst/>
                          <a:hlinkClick r:id="rId12"/>
                        </a:rPr>
                        <a:t>das.priyanka6@tcs.com</a:t>
                      </a:r>
                      <a:endParaRPr lang="en-US" sz="1100" b="0" i="0" u="sng" strike="noStrike">
                        <a:solidFill>
                          <a:srgbClr val="46788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 23rd call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94561582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1041393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 err="1">
                          <a:effectLst/>
                        </a:rPr>
                        <a:t>joydeep</a:t>
                      </a:r>
                      <a:r>
                        <a:rPr lang="en-US" sz="1100" u="none" strike="noStrike" dirty="0">
                          <a:effectLst/>
                        </a:rPr>
                        <a:t> das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sng" strike="noStrike">
                          <a:effectLst/>
                          <a:hlinkClick r:id="rId13"/>
                        </a:rPr>
                        <a:t>d.joydeep@tcs.com</a:t>
                      </a:r>
                      <a:endParaRPr lang="en-US" sz="1100" b="0" i="0" u="sng" strike="noStrike">
                        <a:solidFill>
                          <a:srgbClr val="46788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121911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u="none" strike="noStrike" dirty="0">
                          <a:effectLst/>
                        </a:rPr>
                        <a:t> Joined 22 and 23 call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582107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1070835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Abhimanyu Kumar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sng" strike="noStrike">
                          <a:effectLst/>
                          <a:hlinkClick r:id="rId14"/>
                        </a:rPr>
                        <a:t>kumar.abhimanyu1@tcs.com</a:t>
                      </a:r>
                      <a:endParaRPr lang="en-US" sz="1100" b="0" i="0" u="sng" strike="noStrike">
                        <a:solidFill>
                          <a:srgbClr val="46788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121911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u="none" strike="noStrike" dirty="0">
                          <a:effectLst/>
                        </a:rPr>
                        <a:t> Joined 22 and 23 call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1378985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1390201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Warish Ahemad Khan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sng" strike="noStrike">
                          <a:effectLst/>
                          <a:hlinkClick r:id="rId15"/>
                        </a:rPr>
                        <a:t>warish.khan@tcs.com</a:t>
                      </a:r>
                      <a:endParaRPr lang="en-US" sz="1100" b="0" i="0" u="sng" strike="noStrike">
                        <a:solidFill>
                          <a:srgbClr val="46788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6580648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1845163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Swagatika Mohanty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sng" strike="noStrike">
                          <a:effectLst/>
                          <a:hlinkClick r:id="rId16"/>
                        </a:rPr>
                        <a:t>swagatika.mohanty2@tcs.com</a:t>
                      </a:r>
                      <a:endParaRPr lang="en-US" sz="1100" b="0" i="0" u="sng" strike="noStrike">
                        <a:solidFill>
                          <a:srgbClr val="46788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1548761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1866212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Vishnu Muralidharan Moochickal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sng" strike="noStrike">
                          <a:effectLst/>
                          <a:hlinkClick r:id="rId17"/>
                        </a:rPr>
                        <a:t>vishnu.moochickal@tcs.com</a:t>
                      </a:r>
                      <a:endParaRPr lang="en-US" sz="1100" b="0" i="0" u="sng" strike="noStrike">
                        <a:solidFill>
                          <a:srgbClr val="46788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Joined 22</a:t>
                      </a:r>
                      <a:r>
                        <a:rPr lang="en-US" sz="1100" u="none" strike="noStrike" baseline="30000" dirty="0">
                          <a:effectLst/>
                        </a:rPr>
                        <a:t>nd</a:t>
                      </a:r>
                      <a:r>
                        <a:rPr lang="en-US" sz="1100" u="none" strike="noStrike" dirty="0">
                          <a:effectLst/>
                        </a:rPr>
                        <a:t> call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90191232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E8F29E47-45D5-659C-4ADC-9A5F3A7ACB85}"/>
              </a:ext>
            </a:extLst>
          </p:cNvPr>
          <p:cNvSpPr txBox="1"/>
          <p:nvPr/>
        </p:nvSpPr>
        <p:spPr>
          <a:xfrm>
            <a:off x="1032387" y="4552335"/>
            <a:ext cx="541757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MOM-22/12/2025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Finalized the Use case(Banking Vertical – Fraud Detection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Demoed the solutions (Vishnu and Abhimanyu)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Call setup for next day(23</a:t>
            </a:r>
            <a:r>
              <a:rPr lang="en-US" sz="1400" baseline="30000" dirty="0"/>
              <a:t>rd</a:t>
            </a:r>
            <a:r>
              <a:rPr lang="en-US" sz="1400" dirty="0"/>
              <a:t> Dec)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Requested everyone to 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3450722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8FE88-9313-AAD6-CD94-5A7F2799A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1045118"/>
      </p:ext>
    </p:extLst>
  </p:cSld>
  <p:clrMapOvr>
    <a:masterClrMapping/>
  </p:clrMapOvr>
</p:sld>
</file>

<file path=ppt/theme/theme1.xml><?xml version="1.0" encoding="utf-8"?>
<a:theme xmlns:a="http://schemas.openxmlformats.org/drawingml/2006/main" name="Content Slide_White">
  <a:themeElements>
    <a:clrScheme name="TCS Theme Color 2024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54B948"/>
      </a:accent2>
      <a:accent3>
        <a:srgbClr val="FBB034"/>
      </a:accent3>
      <a:accent4>
        <a:srgbClr val="EF4135"/>
      </a:accent4>
      <a:accent5>
        <a:srgbClr val="F15A29"/>
      </a:accent5>
      <a:accent6>
        <a:srgbClr val="595959"/>
      </a:accent6>
      <a:hlink>
        <a:srgbClr val="0070C0"/>
      </a:hlink>
      <a:folHlink>
        <a:srgbClr val="F0B34F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custClrLst>
    <a:custClr name="White">
      <a:srgbClr val="FFFFFF"/>
    </a:custClr>
    <a:custClr name="Black">
      <a:srgbClr val="000000"/>
    </a:custClr>
    <a:custClr name="Darker 2">
      <a:srgbClr val="2F4F76"/>
    </a:custClr>
    <a:custClr name="Darker 1">
      <a:srgbClr val="3E6A9D"/>
    </a:custClr>
    <a:custClr name="TCS Blue">
      <a:srgbClr val="4E84C4"/>
    </a:custClr>
    <a:custClr name="Lighter 1">
      <a:srgbClr val="719DD0"/>
    </a:custClr>
    <a:custClr name="Lighter 2">
      <a:srgbClr val="95B5DC"/>
    </a:custClr>
    <a:custClr name="Darker 2">
      <a:srgbClr val="326F2B"/>
    </a:custClr>
    <a:custClr name="Darker 1">
      <a:srgbClr val="43943A"/>
    </a:custClr>
    <a:custClr name="TCS Green">
      <a:srgbClr val="54B948"/>
    </a:custClr>
    <a:custClr name="Lighter 1">
      <a:srgbClr val="76C76D"/>
    </a:custClr>
    <a:custClr name="Lighter 2">
      <a:srgbClr val="98D591"/>
    </a:custClr>
    <a:custClr name="Darker 2">
      <a:srgbClr val="976A1A"/>
    </a:custClr>
    <a:custClr name="Darker 1">
      <a:srgbClr val="C98D2A"/>
    </a:custClr>
    <a:custClr name="TCS Yellow">
      <a:srgbClr val="FBB034"/>
    </a:custClr>
    <a:custClr name="Lighter 1">
      <a:srgbClr val="FCC05D"/>
    </a:custClr>
    <a:custClr name="Lighter 2">
      <a:srgbClr val="FDD085"/>
    </a:custClr>
    <a:custClr name="Darker 2">
      <a:srgbClr val="8F2720"/>
    </a:custClr>
    <a:custClr name="Darker 1">
      <a:srgbClr val="BF342A"/>
    </a:custClr>
    <a:custClr name="TCS Red">
      <a:srgbClr val="EF4135"/>
    </a:custClr>
    <a:custClr name="Lighter 1">
      <a:srgbClr val="F2675D"/>
    </a:custClr>
    <a:custClr name="Lighter 2">
      <a:srgbClr val="F58D86"/>
    </a:custClr>
    <a:custClr name="Darker 2">
      <a:srgbClr val="913619"/>
    </a:custClr>
    <a:custClr name="Darker 1">
      <a:srgbClr val="C14821"/>
    </a:custClr>
    <a:custClr name="TCS Orange">
      <a:srgbClr val="F15A29"/>
    </a:custClr>
    <a:custClr name="Lighter 1">
      <a:srgbClr val="F47B54"/>
    </a:custClr>
    <a:custClr name="Lighter 2">
      <a:srgbClr val="F79C7F"/>
    </a:custClr>
  </a:custClrLst>
  <a:extLst>
    <a:ext uri="{05A4C25C-085E-4340-85A3-A5531E510DB2}">
      <thm15:themeFamily xmlns:thm15="http://schemas.microsoft.com/office/thememl/2012/main" name="TCS_Company_Presentation_Template_Standard_16X9 2025" id="{4BAEE98A-CFE3-44DD-926E-3AB03471F7EE}" vid="{A7616F4E-4E3E-45F0-806C-A41E574CA80D}"/>
    </a:ext>
  </a:extLst>
</a:theme>
</file>

<file path=ppt/theme/theme2.xml><?xml version="1.0" encoding="utf-8"?>
<a:theme xmlns:a="http://schemas.openxmlformats.org/drawingml/2006/main" name="1_Thank Slide_White">
  <a:themeElements>
    <a:clrScheme name="TCS Theme Color 2024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54B948"/>
      </a:accent2>
      <a:accent3>
        <a:srgbClr val="FBB034"/>
      </a:accent3>
      <a:accent4>
        <a:srgbClr val="EF4135"/>
      </a:accent4>
      <a:accent5>
        <a:srgbClr val="F15A29"/>
      </a:accent5>
      <a:accent6>
        <a:srgbClr val="595959"/>
      </a:accent6>
      <a:hlink>
        <a:srgbClr val="0070C0"/>
      </a:hlink>
      <a:folHlink>
        <a:srgbClr val="F0B34F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White">
      <a:srgbClr val="FFFFFF"/>
    </a:custClr>
    <a:custClr name="Black">
      <a:srgbClr val="000000"/>
    </a:custClr>
    <a:custClr name="Darker 2">
      <a:srgbClr val="2F4F76"/>
    </a:custClr>
    <a:custClr name="Darker 1">
      <a:srgbClr val="3E6A9D"/>
    </a:custClr>
    <a:custClr name="TCS Blue">
      <a:srgbClr val="4E84C4"/>
    </a:custClr>
    <a:custClr name="Lighter 1">
      <a:srgbClr val="719DD0"/>
    </a:custClr>
    <a:custClr name="Lighter 2">
      <a:srgbClr val="95B5DC"/>
    </a:custClr>
    <a:custClr name="Darker 2">
      <a:srgbClr val="326F2B"/>
    </a:custClr>
    <a:custClr name="Darker 1">
      <a:srgbClr val="43943A"/>
    </a:custClr>
    <a:custClr name="TCS Green">
      <a:srgbClr val="54B948"/>
    </a:custClr>
    <a:custClr name="Lighter 1">
      <a:srgbClr val="76C76D"/>
    </a:custClr>
    <a:custClr name="Lighter 2">
      <a:srgbClr val="98D591"/>
    </a:custClr>
    <a:custClr name="Darker 2">
      <a:srgbClr val="976A1A"/>
    </a:custClr>
    <a:custClr name="Darker 1">
      <a:srgbClr val="C98D2A"/>
    </a:custClr>
    <a:custClr name="TCS Yellow">
      <a:srgbClr val="FBB034"/>
    </a:custClr>
    <a:custClr name="Lighter 1">
      <a:srgbClr val="FCC05D"/>
    </a:custClr>
    <a:custClr name="Lighter 2">
      <a:srgbClr val="FDD085"/>
    </a:custClr>
    <a:custClr name="Darker 2">
      <a:srgbClr val="8F2720"/>
    </a:custClr>
    <a:custClr name="Darker 1">
      <a:srgbClr val="BF342A"/>
    </a:custClr>
    <a:custClr name="TCS Red">
      <a:srgbClr val="EF4135"/>
    </a:custClr>
    <a:custClr name="Lighter 1">
      <a:srgbClr val="F2675D"/>
    </a:custClr>
    <a:custClr name="Lighter 2">
      <a:srgbClr val="F58D86"/>
    </a:custClr>
    <a:custClr name="Darker 2">
      <a:srgbClr val="913619"/>
    </a:custClr>
    <a:custClr name="Darker 1">
      <a:srgbClr val="C14821"/>
    </a:custClr>
    <a:custClr name="TCS Orange">
      <a:srgbClr val="F15A29"/>
    </a:custClr>
    <a:custClr name="Lighter 1">
      <a:srgbClr val="F47B54"/>
    </a:custClr>
    <a:custClr name="Lighter 2">
      <a:srgbClr val="F79C7F"/>
    </a:custClr>
  </a:custClrLst>
  <a:extLst>
    <a:ext uri="{05A4C25C-085E-4340-85A3-A5531E510DB2}">
      <thm15:themeFamily xmlns:thm15="http://schemas.microsoft.com/office/thememl/2012/main" name="TCS_Company_Presentation_Template_Standard_16X9 2025" id="{4BAEE98A-CFE3-44DD-926E-3AB03471F7EE}" vid="{6EFD6D77-6AE0-44DA-8B74-9DCB67902147}"/>
    </a:ext>
  </a:extLst>
</a:theme>
</file>

<file path=ppt/theme/themeOverride1.xml><?xml version="1.0" encoding="utf-8"?>
<a:themeOverride xmlns:a="http://schemas.openxmlformats.org/drawingml/2006/main">
  <a:clrScheme name="TCS Theme Color 2024">
    <a:dk1>
      <a:srgbClr val="000000"/>
    </a:dk1>
    <a:lt1>
      <a:srgbClr val="FFFFFF"/>
    </a:lt1>
    <a:dk2>
      <a:srgbClr val="1E2323"/>
    </a:dk2>
    <a:lt2>
      <a:srgbClr val="FFFFFF"/>
    </a:lt2>
    <a:accent1>
      <a:srgbClr val="4E84C4"/>
    </a:accent1>
    <a:accent2>
      <a:srgbClr val="54B948"/>
    </a:accent2>
    <a:accent3>
      <a:srgbClr val="FBB034"/>
    </a:accent3>
    <a:accent4>
      <a:srgbClr val="EF4135"/>
    </a:accent4>
    <a:accent5>
      <a:srgbClr val="F15A29"/>
    </a:accent5>
    <a:accent6>
      <a:srgbClr val="595959"/>
    </a:accent6>
    <a:hlink>
      <a:srgbClr val="0070C0"/>
    </a:hlink>
    <a:folHlink>
      <a:srgbClr val="F0B34F"/>
    </a:folHlink>
  </a:clrScheme>
</a:themeOverride>
</file>

<file path=docMetadata/LabelInfo.xml><?xml version="1.0" encoding="utf-8"?>
<clbl:labelList xmlns:clbl="http://schemas.microsoft.com/office/2020/mipLabelMetadata">
  <clbl:label id="{0df3522f-8c42-44b0-bea3-7f162a60ea50}" enabled="1" method="Standard" siteId="{63982aff-fb6c-4c22-973b-70e4acfb63e6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3618</TotalTime>
  <Words>1846</Words>
  <Application>Microsoft Office PowerPoint</Application>
  <PresentationFormat>Widescreen</PresentationFormat>
  <Paragraphs>291</Paragraphs>
  <Slides>10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5" baseType="lpstr">
      <vt:lpstr>Aptos</vt:lpstr>
      <vt:lpstr>Aptos Narrow</vt:lpstr>
      <vt:lpstr>Arial</vt:lpstr>
      <vt:lpstr>Arial MT</vt:lpstr>
      <vt:lpstr>Calibri</vt:lpstr>
      <vt:lpstr>Corbel</vt:lpstr>
      <vt:lpstr>Courier New</vt:lpstr>
      <vt:lpstr>Lucida Sans Unicode</vt:lpstr>
      <vt:lpstr>Microsoft Sans Serif</vt:lpstr>
      <vt:lpstr>Symbol</vt:lpstr>
      <vt:lpstr>Tahoma</vt:lpstr>
      <vt:lpstr>Wingdings</vt:lpstr>
      <vt:lpstr>Content Slide_White</vt:lpstr>
      <vt:lpstr>1_Thank Slide_White</vt:lpstr>
      <vt:lpstr>Package</vt:lpstr>
      <vt:lpstr>Banking Fraud Detection System with Generative AI</vt:lpstr>
      <vt:lpstr>Real World Use Cases</vt:lpstr>
      <vt:lpstr>Logical Flow Chart</vt:lpstr>
      <vt:lpstr>Architecture Diagram</vt:lpstr>
      <vt:lpstr>Industry-Specific Benefits</vt:lpstr>
      <vt:lpstr>ROI &amp; Business Value</vt:lpstr>
      <vt:lpstr>Technical Key Components and Summary</vt:lpstr>
      <vt:lpstr>Artifacts Attached</vt:lpstr>
      <vt:lpstr>Contribution By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Alen Jacob</dc:creator>
  <cp:lastModifiedBy>Abhimanyu Kumar</cp:lastModifiedBy>
  <cp:revision>41</cp:revision>
  <dcterms:created xsi:type="dcterms:W3CDTF">2025-10-02T22:05:25Z</dcterms:created>
  <dcterms:modified xsi:type="dcterms:W3CDTF">2025-12-29T23:24:08Z</dcterms:modified>
</cp:coreProperties>
</file>